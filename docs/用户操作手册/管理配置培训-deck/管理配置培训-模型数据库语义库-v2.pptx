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1 分钟：今天只讲一件事——管理配置怎么配。配完三步（模型、数据库、语义库），前端就能用中文提问查数。全程跟着界面走，不需要写代码。
封面信息：内部培训资料 ｜ 2026-09 ｜ 主讲人：____________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这一部分不配置任何东西，只建立共同认知。听众若只关心操作，可提示：这两页讲完就进入实操。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讲演进时强调「递进」：每一级都以上一级的准确性为前提。收尾落到我们当前的位置——智能问数，这也是本次配置培训的全部目标范围。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完整说法（口播用）：① LLM 能力边界——幻觉、同题多跑结果不一致、对复杂口径理解偏差，我们用 SQL-of-Thought 流水线加 9 类 31 小类错误自动纠错（最多 3 次）兜住；② Harness Engineering——模型只是引擎，上下文管理、工具、提示词与编排才决定稳定性，应对是主/子 Agent 异步编排、上下文压缩、技能系统、消息瘦身；③ 数据库治理——业务含义不在表里：指标口径不统一、应用场景及其 cube 指标缺失，应对是语义库建模 + 五类业务知识把口径写进字典。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完整说法（口播用）：④ 安全——企业数据不敢开放给 AI 随便查，应对是数据库与语义库鉴权：连接信息加密、只读通道、写操作审批（即将上线）；⑤ 评估与验证——不好构建评测集，没有题就无法回答「改版后变好了吗」，应对是用户反馈 → 待标注复核 → BadCase/GoodCase 集 → 离线测试 A/B + 发布门禁；⑥ 使用者容忍度——用户对「偶尔答错」的容忍度远低于对同事出错，错一次就可能弃用，应对是过程透明（SQL 与步骤可核）、点赞点踩闭环、培训统一提问规范。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给出全场路线图，并明确先后依赖：必须先把数据库配好，语义库才有库可选。告诉听众其余模块默认即可，把注意力留给主线。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 PART 01。强调这是唯一需要管理员操作、且影响全系统的配置：模型配错，所有人提问都会失败。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逐字段演示一遍即可，不要念表。重点强调两个易错点：Base URL 不填就拿不到模型列表；API Key 编辑时留空是「保留原密钥」而不是清空。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澄清术语：界面上没有「探活」按钮，探活对应「刷新真实容量」。这一步决定模型能输出多长、上下文多宽，配错会导致长报告被截断。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 PART 02。提醒：这一步是语义库的前置条件，语义库新建时必须从这些库里选目标库。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重点讲两件事：一是「Wren 项目」留空与选中的区别（直连 vs 语义层）；二是所有改动保存即生效，不需要重启后端。测试连接建议每次改完都点一次。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 PART 03，本次培训的重点。可以先问一句：为什么 AI 会答错？多半不是模型笨，而是它不知道你们的业务口径。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让听众先选路径，再讲后续步骤：已有仓库就走 ②，从零开始就走 ①。安全那句要念出来——它回答了「把语义库放 Git 会不会泄露密码」。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现场演示要留时间：提取表结构这一步会把库里的表全列出来，第一次看到容易懵。提醒大家「少即是多」——151 张表不必全选。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强调这是「花小钱办大事」的一步：不填也能用，但业务口径类问题几乎都源于知识缺失。建议每个语义库至少先写规则与指标两类。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把「构建 = 生成 MDL」这句话讲透，它解释了后面绝大多数报错。演示时改一处知识、再点一次构建，让听众看到流程闭环。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 PART 04。这一节节奏要快，目的是「让听众知道有这些开关、但不要动它们」。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一句话过每个模块即可。唯一需要展开的是「工作区」——多项目并行时才用，单项目保持默认。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 PART 05。提醒听众：从这里开始是维护人员的工作，普通用户只需知道「点赞点踩是有用的」。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讲清「为什么要点赞点踩」：用户的每次点击都会变成题。再讲三种操作的代价，避免现场有人随手删数据。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 PART 06。这一节回答一个管理问题：改了东西，怎么知道变好还是变差。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重点讲「对比臂」的概念：一次只改一个变量，否则分不清是谁的功劳。门禁阈值默认 ±0.05，整体与简单查询子集双重门槛。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结尾三句话最好让听众复述一遍。如果时间不够，就只讲第一条——它解决了现场八成的「怎么不好使」提问。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收尾：把配套资料的位置念一遍，并说明会后可索取 pptx 与手册。留 5-10 分钟答疑，优先回答配置类问题。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143000"/>
            <a:ext cx="10363200" cy="0"/>
          </a:xfrm>
          <a:prstGeom prst="line">
            <a:avLst/>
          </a:prstGeom>
          <a:noFill/>
          <a:ln w="19050">
            <a:solidFill>
              <a:srgbClr val="847441">
                <a:alpha val="81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49630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DataAgent 智能数据助手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541270"/>
            <a:ext cx="11277600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管理配置培训：模型 → 数据库 → 语义库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14400" y="4476750"/>
            <a:ext cx="4191000" cy="838200"/>
          </a:xfrm>
          <a:prstGeom prst="rect">
            <a:avLst/>
          </a:prstGeom>
          <a:solidFill>
            <a:srgbClr val="0E6245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4690110"/>
            <a:ext cx="110109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914400" y="6096000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1049000" cy="480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1500" dirty="0">
                <a:solidFill>
                  <a:srgbClr val="0A0E14">
                    <a:alpha val="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14400" y="2998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第一章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352800"/>
            <a:ext cx="914400" cy="19050"/>
          </a:xfrm>
          <a:prstGeom prst="rect">
            <a:avLst/>
          </a:prstGeom>
          <a:solidFill>
            <a:srgbClr val="A8861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80460"/>
            <a:ext cx="11277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前言：智能问数的演进与现实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38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先建立判断：我们走到哪一步、难在哪里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22960"/>
            <a:ext cx="104775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从 NL2SQL 到决策建议：五个台阶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6250"/>
            </a:avLst>
          </a:prstGeom>
          <a:solidFill>
            <a:srgbClr val="0E6245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914525"/>
            <a:ext cx="2242185" cy="1123950"/>
          </a:xfrm>
          <a:custGeom>
            <a:avLst/>
            <a:gdLst/>
            <a:ahLst/>
            <a:cxnLst/>
            <a:rect l="l" t="t" r="r" b="b"/>
            <a:pathLst>
              <a:path w="2242185" h="1123950">
                <a:moveTo>
                  <a:pt x="0" y="0"/>
                </a:moveTo>
                <a:lnTo>
                  <a:pt x="1994535" y="0"/>
                </a:lnTo>
                <a:lnTo>
                  <a:pt x="2242185" y="561975"/>
                </a:lnTo>
                <a:lnTo>
                  <a:pt x="1994535" y="1123950"/>
                </a:lnTo>
                <a:lnTo>
                  <a:pt x="0" y="1123950"/>
                </a:lnTo>
                <a:close/>
              </a:path>
            </a:pathLst>
          </a:cu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800" y="2225040"/>
            <a:ext cx="1112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2442210"/>
            <a:ext cx="11125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NL2SQL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3225165"/>
            <a:ext cx="1112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自然语言转一条 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37510" y="1914525"/>
            <a:ext cx="2242185" cy="1123950"/>
          </a:xfrm>
          <a:custGeom>
            <a:avLst/>
            <a:gdLst/>
            <a:ahLst/>
            <a:cxnLst/>
            <a:rect l="l" t="t" r="r" b="b"/>
            <a:pathLst>
              <a:path w="2242185" h="1123950">
                <a:moveTo>
                  <a:pt x="0" y="0"/>
                </a:moveTo>
                <a:lnTo>
                  <a:pt x="1994535" y="0"/>
                </a:lnTo>
                <a:lnTo>
                  <a:pt x="2242185" y="561975"/>
                </a:lnTo>
                <a:lnTo>
                  <a:pt x="1994535" y="1123950"/>
                </a:lnTo>
                <a:lnTo>
                  <a:pt x="0" y="1123950"/>
                </a:lnTo>
                <a:lnTo>
                  <a:pt x="247650" y="561975"/>
                </a:lnTo>
                <a:close/>
              </a:path>
            </a:pathLst>
          </a:cu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9460" y="2225040"/>
            <a:ext cx="88925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9460" y="2442210"/>
            <a:ext cx="88925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ChatBI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9460" y="3225165"/>
            <a:ext cx="88925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对话式追问与可视化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60620" y="1914525"/>
            <a:ext cx="2242185" cy="1123950"/>
          </a:xfrm>
          <a:custGeom>
            <a:avLst/>
            <a:gdLst/>
            <a:ahLst/>
            <a:cxnLst/>
            <a:rect l="l" t="t" r="r" b="b"/>
            <a:pathLst>
              <a:path w="2242185" h="1123950">
                <a:moveTo>
                  <a:pt x="0" y="0"/>
                </a:moveTo>
                <a:lnTo>
                  <a:pt x="1994535" y="0"/>
                </a:lnTo>
                <a:lnTo>
                  <a:pt x="2242185" y="561975"/>
                </a:lnTo>
                <a:lnTo>
                  <a:pt x="1994535" y="1123950"/>
                </a:lnTo>
                <a:lnTo>
                  <a:pt x="0" y="1123950"/>
                </a:lnTo>
                <a:lnTo>
                  <a:pt x="247650" y="561975"/>
                </a:lnTo>
                <a:close/>
              </a:path>
            </a:pathLst>
          </a:cu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2570" y="2225040"/>
            <a:ext cx="686943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22570" y="2442210"/>
            <a:ext cx="686943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智能问数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22570" y="3225165"/>
            <a:ext cx="686943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查数 + 图表 + 口径解读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83730" y="1914525"/>
            <a:ext cx="2242185" cy="1123950"/>
          </a:xfrm>
          <a:custGeom>
            <a:avLst/>
            <a:gdLst/>
            <a:ahLst/>
            <a:cxnLst/>
            <a:rect l="l" t="t" r="r" b="b"/>
            <a:pathLst>
              <a:path w="2242185" h="1123950">
                <a:moveTo>
                  <a:pt x="0" y="0"/>
                </a:moveTo>
                <a:lnTo>
                  <a:pt x="1994535" y="0"/>
                </a:lnTo>
                <a:lnTo>
                  <a:pt x="2242185" y="561975"/>
                </a:lnTo>
                <a:lnTo>
                  <a:pt x="1994535" y="1123950"/>
                </a:lnTo>
                <a:lnTo>
                  <a:pt x="0" y="1123950"/>
                </a:lnTo>
                <a:lnTo>
                  <a:pt x="247650" y="561975"/>
                </a:lnTo>
                <a:close/>
              </a:path>
            </a:pathLst>
          </a:cu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45680" y="2225040"/>
            <a:ext cx="48463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45680" y="2442210"/>
            <a:ext cx="4846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预测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45680" y="3225165"/>
            <a:ext cx="48463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趋势与异常预判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1914525"/>
            <a:ext cx="2242185" cy="1123950"/>
          </a:xfrm>
          <a:custGeom>
            <a:avLst/>
            <a:gdLst/>
            <a:ahLst/>
            <a:cxnLst/>
            <a:rect l="l" t="t" r="r" b="b"/>
            <a:pathLst>
              <a:path w="2242185" h="1123950">
                <a:moveTo>
                  <a:pt x="0" y="0"/>
                </a:moveTo>
                <a:lnTo>
                  <a:pt x="1994535" y="0"/>
                </a:lnTo>
                <a:lnTo>
                  <a:pt x="2242185" y="561975"/>
                </a:lnTo>
                <a:lnTo>
                  <a:pt x="1994535" y="1123950"/>
                </a:lnTo>
                <a:lnTo>
                  <a:pt x="0" y="1123950"/>
                </a:lnTo>
                <a:lnTo>
                  <a:pt x="247650" y="561975"/>
                </a:lnTo>
                <a:close/>
              </a:path>
            </a:pathLst>
          </a:custGeom>
          <a:solidFill>
            <a:srgbClr val="0E6245"/>
          </a:solidFill>
          <a:ln w="9525">
            <a:solidFill>
              <a:srgbClr val="0E62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68790" y="2225040"/>
            <a:ext cx="282321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FB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68790" y="2442210"/>
            <a:ext cx="282321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FBF6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决策建议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68790" y="3225165"/>
            <a:ext cx="282321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从看数据到给行动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6461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查不准就谈不上预测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0462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治理要求逐级提高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44462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人发起、AI 执行、人复核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5114925"/>
            <a:ext cx="10363200" cy="628650"/>
          </a:xfrm>
          <a:prstGeom prst="roundRect">
            <a:avLst>
              <a:gd name="adj" fmla="val 3030"/>
            </a:avLst>
          </a:prstGeom>
          <a:solidFill>
            <a:srgbClr val="E9E8E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2363" y="5332413"/>
            <a:ext cx="174625" cy="174625"/>
          </a:xfrm>
          <a:prstGeom prst="ellipse">
            <a:avLst/>
          </a:pr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9675" y="5419725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34925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09675" y="5384800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7800" y="5313045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我们当前在「智能问数」阶段：先把查得准、看得懂、能复现做实，再谈预测与决策。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落地难在哪（一）：决定能不能用的三件事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028700" y="2044065"/>
            <a:ext cx="11163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291486" y="2044065"/>
            <a:ext cx="990051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难在哪里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87424" y="2044065"/>
            <a:ext cx="830457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我们的应对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333625"/>
            <a:ext cx="5029200" cy="0"/>
          </a:xfrm>
          <a:prstGeom prst="line">
            <a:avLst/>
          </a:prstGeom>
          <a:noFill/>
          <a:ln w="19050">
            <a:solidFill>
              <a:srgbClr val="2325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52725"/>
            <a:ext cx="5029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71825"/>
            <a:ext cx="5029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90925"/>
            <a:ext cx="5029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能力边界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91486" y="2478405"/>
            <a:ext cx="99005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幻觉、结果不稳定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87424" y="2478405"/>
            <a:ext cx="83045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 + 自动纠错 ≤3 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工程编排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91486" y="2897505"/>
            <a:ext cx="99005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编排决定稳定性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7424" y="2897505"/>
            <a:ext cx="83045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异步编排、上下文压缩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数据库治理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91486" y="3316605"/>
            <a:ext cx="99005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口径不统一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87424" y="3316605"/>
            <a:ext cx="83045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语义库 + 知识入字典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8400" y="1914525"/>
            <a:ext cx="5029200" cy="952500"/>
          </a:xfrm>
          <a:prstGeom prst="roundRect">
            <a:avLst>
              <a:gd name="adj" fmla="val 2000"/>
            </a:avLst>
          </a:prstGeom>
          <a:solidFill>
            <a:srgbClr val="E9E8E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56363" y="2132013"/>
            <a:ext cx="174625" cy="174625"/>
          </a:xfrm>
          <a:prstGeom prst="ellipse">
            <a:avLst/>
          </a:pr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43675" y="2219325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34925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43675" y="2184400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1800" y="2112645"/>
            <a:ext cx="5410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这三件决定「能不能用」，缺一件都跑不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81800" y="2436495"/>
            <a:ext cx="5410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起来。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落地难在哪（二）：决定敢不敢用、能不能持续好用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028700" y="2044065"/>
            <a:ext cx="11163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155313" y="2044065"/>
            <a:ext cx="1003668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难在哪里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957894" y="2044065"/>
            <a:ext cx="823410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我们的应对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333625"/>
            <a:ext cx="5029200" cy="0"/>
          </a:xfrm>
          <a:prstGeom prst="line">
            <a:avLst/>
          </a:prstGeom>
          <a:noFill/>
          <a:ln w="19050">
            <a:solidFill>
              <a:srgbClr val="2325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52725"/>
            <a:ext cx="5029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71825"/>
            <a:ext cx="5029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90925"/>
            <a:ext cx="5029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55313" y="2478405"/>
            <a:ext cx="1003668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数据不敢开放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57894" y="2478405"/>
            <a:ext cx="823410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 + 只读 + 写审批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评估与验证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55313" y="2897505"/>
            <a:ext cx="1003668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没有题就不知好坏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57894" y="2897505"/>
            <a:ext cx="823410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好差题集 + A/B 门禁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用户容忍度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55313" y="3316605"/>
            <a:ext cx="1003668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错一次就可能弃用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57894" y="3316605"/>
            <a:ext cx="823410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过程可核 + 反馈闭环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8400" y="1914525"/>
            <a:ext cx="5029200" cy="1276350"/>
          </a:xfrm>
          <a:prstGeom prst="roundRect">
            <a:avLst>
              <a:gd name="adj" fmla="val 1493"/>
            </a:avLst>
          </a:prstGeom>
          <a:solidFill>
            <a:srgbClr val="E9E8E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1288" y="213201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78581" y="104775"/>
                </a:moveTo>
                <a:cubicBezTo>
                  <a:pt x="80328" y="96044"/>
                  <a:pt x="84693" y="89932"/>
                  <a:pt x="91678" y="82947"/>
                </a:cubicBezTo>
                <a:cubicBezTo>
                  <a:pt x="100409" y="75089"/>
                  <a:pt x="104775" y="63738"/>
                  <a:pt x="104775" y="52388"/>
                </a:cubicBezTo>
                <a:arcTo hR="52388" wR="52388" stAng="0" swAng="-10800000"/>
                <a:cubicBezTo>
                  <a:pt x="0" y="61119"/>
                  <a:pt x="1746" y="71596"/>
                  <a:pt x="13097" y="82947"/>
                </a:cubicBezTo>
                <a:cubicBezTo>
                  <a:pt x="19209" y="89059"/>
                  <a:pt x="24448" y="96044"/>
                  <a:pt x="26194" y="104775"/>
                </a:cubicBez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7481" y="2271713"/>
            <a:ext cx="52388" cy="6548"/>
          </a:xfrm>
          <a:custGeom>
            <a:avLst/>
            <a:gdLst/>
            <a:ahLst/>
            <a:cxnLst/>
            <a:rect l="l" t="t" r="r" b="b"/>
            <a:pathLst>
              <a:path w="52388" h="6548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26213" y="2306638"/>
            <a:ext cx="34925" cy="6548"/>
          </a:xfrm>
          <a:custGeom>
            <a:avLst/>
            <a:gdLst/>
            <a:ahLst/>
            <a:cxnLst/>
            <a:rect l="l" t="t" r="r" b="b"/>
            <a:pathLst>
              <a:path w="34925" h="6548">
                <a:moveTo>
                  <a:pt x="0" y="0"/>
                </a:moveTo>
                <a:lnTo>
                  <a:pt x="34925" y="0"/>
                </a:ln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1800" y="2112645"/>
            <a:ext cx="5410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结论：智能问数不是「接个大模型」就结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81800" y="2436495"/>
            <a:ext cx="5410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束，而是模型 + 工程 +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81800" y="2760345"/>
            <a:ext cx="5410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数据治理三件事同时做。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22960"/>
            <a:ext cx="104775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配置主线：四步跑通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6250"/>
            </a:avLst>
          </a:prstGeom>
          <a:solidFill>
            <a:srgbClr val="0E6245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914525"/>
            <a:ext cx="2747963" cy="1123950"/>
          </a:xfrm>
          <a:custGeom>
            <a:avLst/>
            <a:gdLst/>
            <a:ahLst/>
            <a:cxnLst/>
            <a:rect l="l" t="t" r="r" b="b"/>
            <a:pathLst>
              <a:path w="2747963" h="1123950">
                <a:moveTo>
                  <a:pt x="0" y="0"/>
                </a:moveTo>
                <a:lnTo>
                  <a:pt x="2500313" y="0"/>
                </a:lnTo>
                <a:lnTo>
                  <a:pt x="2747963" y="561975"/>
                </a:lnTo>
                <a:lnTo>
                  <a:pt x="2500313" y="1123950"/>
                </a:lnTo>
                <a:lnTo>
                  <a:pt x="0" y="1123950"/>
                </a:lnTo>
                <a:close/>
              </a:path>
            </a:pathLst>
          </a:cu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800" y="2225040"/>
            <a:ext cx="1112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2442210"/>
            <a:ext cx="11125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① 新增模型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3225165"/>
            <a:ext cx="1112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LLM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43288" y="1914525"/>
            <a:ext cx="2747963" cy="1123950"/>
          </a:xfrm>
          <a:custGeom>
            <a:avLst/>
            <a:gdLst/>
            <a:ahLst/>
            <a:cxnLst/>
            <a:rect l="l" t="t" r="r" b="b"/>
            <a:pathLst>
              <a:path w="2747963" h="1123950">
                <a:moveTo>
                  <a:pt x="0" y="0"/>
                </a:moveTo>
                <a:lnTo>
                  <a:pt x="2500313" y="0"/>
                </a:lnTo>
                <a:lnTo>
                  <a:pt x="2747963" y="561975"/>
                </a:lnTo>
                <a:lnTo>
                  <a:pt x="2500313" y="1123950"/>
                </a:lnTo>
                <a:lnTo>
                  <a:pt x="0" y="1123950"/>
                </a:lnTo>
                <a:lnTo>
                  <a:pt x="247650" y="561975"/>
                </a:lnTo>
                <a:close/>
              </a:path>
            </a:pathLst>
          </a:cu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5238" y="2225040"/>
            <a:ext cx="83867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05238" y="2442210"/>
            <a:ext cx="838676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② 数据库配置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05238" y="3225165"/>
            <a:ext cx="83867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接入物理数据源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72175" y="1914525"/>
            <a:ext cx="2747963" cy="1123950"/>
          </a:xfrm>
          <a:custGeom>
            <a:avLst/>
            <a:gdLst/>
            <a:ahLst/>
            <a:cxnLst/>
            <a:rect l="l" t="t" r="r" b="b"/>
            <a:pathLst>
              <a:path w="2747963" h="1123950">
                <a:moveTo>
                  <a:pt x="0" y="0"/>
                </a:moveTo>
                <a:lnTo>
                  <a:pt x="2500313" y="0"/>
                </a:lnTo>
                <a:lnTo>
                  <a:pt x="2747963" y="561975"/>
                </a:lnTo>
                <a:lnTo>
                  <a:pt x="2500313" y="1123950"/>
                </a:lnTo>
                <a:lnTo>
                  <a:pt x="0" y="1123950"/>
                </a:lnTo>
                <a:lnTo>
                  <a:pt x="247650" y="561975"/>
                </a:lnTo>
                <a:close/>
              </a:path>
            </a:pathLst>
          </a:cu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4125" y="2225040"/>
            <a:ext cx="58578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34125" y="2442210"/>
            <a:ext cx="585787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③ 语义库配置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34125" y="3225165"/>
            <a:ext cx="58578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的业务字典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1063" y="1914525"/>
            <a:ext cx="2747963" cy="1123950"/>
          </a:xfrm>
          <a:custGeom>
            <a:avLst/>
            <a:gdLst/>
            <a:ahLst/>
            <a:cxnLst/>
            <a:rect l="l" t="t" r="r" b="b"/>
            <a:pathLst>
              <a:path w="2747963" h="1123950">
                <a:moveTo>
                  <a:pt x="0" y="0"/>
                </a:moveTo>
                <a:lnTo>
                  <a:pt x="2500313" y="0"/>
                </a:lnTo>
                <a:lnTo>
                  <a:pt x="2747963" y="561975"/>
                </a:lnTo>
                <a:lnTo>
                  <a:pt x="2500313" y="1123950"/>
                </a:lnTo>
                <a:lnTo>
                  <a:pt x="0" y="1123950"/>
                </a:lnTo>
                <a:lnTo>
                  <a:pt x="247650" y="561975"/>
                </a:lnTo>
                <a:close/>
              </a:path>
            </a:pathLst>
          </a:custGeom>
          <a:solidFill>
            <a:srgbClr val="0E6245"/>
          </a:solidFill>
          <a:ln w="9525">
            <a:solidFill>
              <a:srgbClr val="0E62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3013" y="2225040"/>
            <a:ext cx="33289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CFB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3013" y="2442210"/>
            <a:ext cx="33289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FBF6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④ 验证查询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63013" y="3225165"/>
            <a:ext cx="33289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前端提问确认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3662362"/>
            <a:ext cx="10363200" cy="952500"/>
          </a:xfrm>
          <a:prstGeom prst="roundRect">
            <a:avLst>
              <a:gd name="adj" fmla="val 2000"/>
            </a:avLst>
          </a:prstGeom>
          <a:solidFill>
            <a:srgbClr val="E9E8E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7288" y="3879850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78581" y="104775"/>
                </a:moveTo>
                <a:cubicBezTo>
                  <a:pt x="80328" y="96044"/>
                  <a:pt x="84693" y="89932"/>
                  <a:pt x="91678" y="82947"/>
                </a:cubicBezTo>
                <a:cubicBezTo>
                  <a:pt x="100409" y="75089"/>
                  <a:pt x="104775" y="63738"/>
                  <a:pt x="104775" y="52388"/>
                </a:cubicBezTo>
                <a:arcTo hR="52388" wR="52388" stAng="0" swAng="-10800000"/>
                <a:cubicBezTo>
                  <a:pt x="0" y="61119"/>
                  <a:pt x="1746" y="71596"/>
                  <a:pt x="13097" y="82947"/>
                </a:cubicBezTo>
                <a:cubicBezTo>
                  <a:pt x="19209" y="89059"/>
                  <a:pt x="24448" y="96044"/>
                  <a:pt x="26194" y="104775"/>
                </a:cubicBez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3481" y="4019550"/>
            <a:ext cx="52388" cy="6548"/>
          </a:xfrm>
          <a:custGeom>
            <a:avLst/>
            <a:gdLst/>
            <a:ahLst/>
            <a:cxnLst/>
            <a:rect l="l" t="t" r="r" b="b"/>
            <a:pathLst>
              <a:path w="52388" h="6548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92213" y="4054475"/>
            <a:ext cx="34925" cy="6548"/>
          </a:xfrm>
          <a:custGeom>
            <a:avLst/>
            <a:gdLst/>
            <a:ahLst/>
            <a:cxnLst/>
            <a:rect l="l" t="t" r="r" b="b"/>
            <a:pathLst>
              <a:path w="34925" h="6548">
                <a:moveTo>
                  <a:pt x="0" y="0"/>
                </a:moveTo>
                <a:lnTo>
                  <a:pt x="34925" y="0"/>
                </a:ln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47800" y="3860483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主线四步跑通即可提问查数；关键词、深度思考、评估、工作区保持默认，保存后即时生效、无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47800" y="4184333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需重启后端。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4857750"/>
            <a:ext cx="10363200" cy="628650"/>
          </a:xfrm>
          <a:prstGeom prst="roundRect">
            <a:avLst>
              <a:gd name="adj" fmla="val 3030"/>
            </a:avLst>
          </a:prstGeom>
          <a:solidFill>
            <a:srgbClr val="E9E8E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05" y="5083847"/>
            <a:ext cx="174764" cy="157285"/>
          </a:xfrm>
          <a:custGeom>
            <a:avLst/>
            <a:gdLst/>
            <a:ahLst/>
            <a:cxnLst/>
            <a:rect l="l" t="t" r="r" b="b"/>
            <a:pathLst>
              <a:path w="174764" h="157285">
                <a:moveTo>
                  <a:pt x="172425" y="131090"/>
                </a:moveTo>
                <a:lnTo>
                  <a:pt x="102575" y="8853"/>
                </a:lnTo>
                <a:arcTo hR="17463" wR="17463" stAng="19827518" swAng="-7255037"/>
                <a:lnTo>
                  <a:pt x="2340" y="131090"/>
                </a:lnTo>
                <a:arcTo hR="17463" wR="17463" stAng="12600161" swAng="-7231094"/>
                <a:lnTo>
                  <a:pt x="157320" y="157284"/>
                </a:lnTo>
                <a:arcTo hR="17463" wR="17463" stAng="5396476" swAng="-7196478"/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09675" y="5136356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9675" y="5206206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47800" y="5055870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SQL审批功能暂未上线，培训中可忽略。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1049000" cy="480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1500" dirty="0">
                <a:solidFill>
                  <a:srgbClr val="0A0E14">
                    <a:alpha val="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14400" y="2998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第二章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352800"/>
            <a:ext cx="914400" cy="19050"/>
          </a:xfrm>
          <a:prstGeom prst="rect">
            <a:avLst/>
          </a:prstGeom>
          <a:solidFill>
            <a:srgbClr val="A8861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80460"/>
            <a:ext cx="11277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PART 01 新增模型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38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入口：设置 → 模型。为系统接入可调用的 LLM API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接入点字段：填什么、注意什么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028700" y="1921955"/>
            <a:ext cx="11163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189017" y="1921955"/>
            <a:ext cx="900298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43685" y="1921955"/>
            <a:ext cx="624831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/ 备注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211515"/>
            <a:ext cx="10363200" cy="0"/>
          </a:xfrm>
          <a:prstGeom prst="line">
            <a:avLst/>
          </a:prstGeom>
          <a:noFill/>
          <a:ln w="19050">
            <a:solidFill>
              <a:srgbClr val="2325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3061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4971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46881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88791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30701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72611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" y="235629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ID（路由）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89017" y="2356295"/>
            <a:ext cx="900298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接入点唯一标识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85" y="2356295"/>
            <a:ext cx="624831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小写字母开头，可用小写字母、数字、短横线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8700" y="277539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显示名称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89017" y="2775395"/>
            <a:ext cx="900298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界面展示用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85" y="2775395"/>
            <a:ext cx="624831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留空则使用 Provider 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8700" y="3194494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URL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89017" y="3194494"/>
            <a:ext cx="900298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OpenAI-compatible 接入点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85" y="3194494"/>
            <a:ext cx="624831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https://.../v1；填写后才能获取模型列表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8700" y="361359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协议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89017" y="3613595"/>
            <a:ext cx="900298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协议类型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85" y="3613595"/>
            <a:ext cx="624831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兼容（集成商可提供 Anthropic 探活兼容方案）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8700" y="403269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89017" y="4032695"/>
            <a:ext cx="900298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鉴权密钥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85" y="4032695"/>
            <a:ext cx="624831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加密存储；编辑时留空 = 保留原密钥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445179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模型列表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89017" y="4451795"/>
            <a:ext cx="900298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该接入点下的模型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85" y="4451795"/>
            <a:ext cx="624831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点「获取可用模型」自动拉取，或「添加模型」手动填 ID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4888039"/>
            <a:ext cx="10363200" cy="952500"/>
          </a:xfrm>
          <a:prstGeom prst="roundRect">
            <a:avLst>
              <a:gd name="adj" fmla="val 2000"/>
            </a:avLst>
          </a:prstGeom>
          <a:solidFill>
            <a:srgbClr val="E9E8E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2205" y="5114137"/>
            <a:ext cx="174764" cy="157285"/>
          </a:xfrm>
          <a:custGeom>
            <a:avLst/>
            <a:gdLst/>
            <a:ahLst/>
            <a:cxnLst/>
            <a:rect l="l" t="t" r="r" b="b"/>
            <a:pathLst>
              <a:path w="174764" h="157285">
                <a:moveTo>
                  <a:pt x="172425" y="131090"/>
                </a:moveTo>
                <a:lnTo>
                  <a:pt x="102575" y="8853"/>
                </a:lnTo>
                <a:arcTo hR="17463" wR="17463" stAng="19827518" swAng="-7255037"/>
                <a:lnTo>
                  <a:pt x="2340" y="131090"/>
                </a:lnTo>
                <a:arcTo hR="17463" wR="17463" stAng="12600161" swAng="-7231094"/>
                <a:lnTo>
                  <a:pt x="157320" y="157284"/>
                </a:lnTo>
                <a:arcTo hR="17463" wR="17463" stAng="5396476" swAng="-7196478"/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09675" y="5166646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09675" y="5236496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47800" y="5086159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校验规则：Provider ID 不能为空且格式受限；必须填 Base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47800" y="5410010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URL；至少配置一个模型，否则无法保存。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60217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每个模型可单独设置：上下文窗口（如 256K）、最大输出 token（如 32K）、温度参数（默认 0）。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22960"/>
            <a:ext cx="104775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获取模型 · 探活容量 · 默认与激活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6250"/>
            </a:avLst>
          </a:prstGeom>
          <a:solidFill>
            <a:srgbClr val="0E6245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71550" y="3549396"/>
            <a:ext cx="914400" cy="914400"/>
          </a:xfrm>
          <a:prstGeom prst="ellipse">
            <a:avLst/>
          </a:prstGeom>
          <a:solidFill>
            <a:srgbClr val="0E6245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874922"/>
            <a:ext cx="2857500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05</a:t>
            </a:r>
            <a:endParaRPr lang="en-US" sz="2304" dirty="0"/>
          </a:p>
        </p:txBody>
      </p:sp>
      <p:sp>
        <p:nvSpPr>
          <p:cNvPr id="8" name="Shape 6"/>
          <p:cNvSpPr/>
          <p:nvPr/>
        </p:nvSpPr>
        <p:spPr>
          <a:xfrm>
            <a:off x="2114550" y="1911096"/>
            <a:ext cx="9105900" cy="731520"/>
          </a:xfrm>
          <a:prstGeom prst="roundRect">
            <a:avLst>
              <a:gd name="adj" fmla="val 2604"/>
            </a:avLst>
          </a:pr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87702" y="1984248"/>
            <a:ext cx="585216" cy="585216"/>
          </a:xfrm>
          <a:prstGeom prst="ellipse">
            <a:avLst/>
          </a:prstGeom>
          <a:solidFill>
            <a:srgbClr val="A8861D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2182559"/>
            <a:ext cx="496062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906268" y="2029206"/>
            <a:ext cx="92857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获取可用模型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06268" y="2332101"/>
            <a:ext cx="92857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自动拉取模型清单并验证连通性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2208276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14550" y="2775966"/>
            <a:ext cx="9105900" cy="731520"/>
          </a:xfrm>
          <a:prstGeom prst="roundRect">
            <a:avLst>
              <a:gd name="adj" fmla="val 2604"/>
            </a:avLst>
          </a:pr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87702" y="2849118"/>
            <a:ext cx="585216" cy="585216"/>
          </a:xfrm>
          <a:prstGeom prst="ellipse">
            <a:avLst/>
          </a:prstGeom>
          <a:solidFill>
            <a:srgbClr val="A8861D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3047428"/>
            <a:ext cx="496062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02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906268" y="2894076"/>
            <a:ext cx="92857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刷新真实容量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06268" y="3196971"/>
            <a:ext cx="92857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读取真实上下文窗口与最大输出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3073146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14550" y="3640836"/>
            <a:ext cx="9105900" cy="731520"/>
          </a:xfrm>
          <a:prstGeom prst="roundRect">
            <a:avLst>
              <a:gd name="adj" fmla="val 2604"/>
            </a:avLst>
          </a:pr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87702" y="3713988"/>
            <a:ext cx="585216" cy="585216"/>
          </a:xfrm>
          <a:prstGeom prst="ellipse">
            <a:avLst/>
          </a:prstGeom>
          <a:solidFill>
            <a:srgbClr val="A8861D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3912299"/>
            <a:ext cx="496062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906268" y="3758946"/>
            <a:ext cx="92857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设置默认模型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06268" y="4061841"/>
            <a:ext cx="92857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用户未手动选择时使用它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3938016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14550" y="4505706"/>
            <a:ext cx="9105900" cy="731520"/>
          </a:xfrm>
          <a:prstGeom prst="roundRect">
            <a:avLst>
              <a:gd name="adj" fmla="val 2604"/>
            </a:avLst>
          </a:pr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87702" y="4578858"/>
            <a:ext cx="585216" cy="585216"/>
          </a:xfrm>
          <a:prstGeom prst="ellipse">
            <a:avLst/>
          </a:prstGeom>
          <a:solidFill>
            <a:srgbClr val="A8861D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4777168"/>
            <a:ext cx="496062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04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2906268" y="4623816"/>
            <a:ext cx="92857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激活 / 备用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906268" y="4926711"/>
            <a:ext cx="92857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多接入点其一为激活，删除后自动回退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0" y="4802886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14550" y="5370576"/>
            <a:ext cx="9105900" cy="731520"/>
          </a:xfrm>
          <a:prstGeom prst="roundRect">
            <a:avLst>
              <a:gd name="adj" fmla="val 2604"/>
            </a:avLst>
          </a:pr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87702" y="5443728"/>
            <a:ext cx="585216" cy="585216"/>
          </a:xfrm>
          <a:prstGeom prst="ellipse">
            <a:avLst/>
          </a:prstGeom>
          <a:solidFill>
            <a:srgbClr val="A8861D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5642038"/>
            <a:ext cx="496062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05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2906268" y="5488686"/>
            <a:ext cx="92857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保存即生效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906268" y="5791581"/>
            <a:ext cx="92857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顶栏「模型选择」可切换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0" y="5667756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60217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常见问题：拉不到列表 → 手动填模型 ID；容量标注「官方 / 默认」→ 未实时探到，可手动改；API Key 显示已配置但编辑留空 → 保存时保留原密钥。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1049000" cy="480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1500" dirty="0">
                <a:solidFill>
                  <a:srgbClr val="0A0E14">
                    <a:alpha val="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14400" y="2998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第三章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352800"/>
            <a:ext cx="914400" cy="19050"/>
          </a:xfrm>
          <a:prstGeom prst="rect">
            <a:avLst/>
          </a:prstGeom>
          <a:solidFill>
            <a:srgbClr val="A8861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80460"/>
            <a:ext cx="11277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PART 02 数据库配置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38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入口：顶栏数据库下拉框旁 ⚙️ 或 设置 → 数据库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Shape 1"/>
          <p:cNvSpPr/>
          <p:nvPr/>
        </p:nvSpPr>
        <p:spPr>
          <a:xfrm>
            <a:off x="838200" y="723900"/>
            <a:ext cx="10515600" cy="0"/>
          </a:xfrm>
          <a:prstGeom prst="line">
            <a:avLst/>
          </a:prstGeom>
          <a:noFill/>
          <a:ln w="11430">
            <a:solidFill>
              <a:srgbClr val="DDD9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8200" y="950595"/>
            <a:ext cx="113538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数据库配置字段与连接测试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1787271"/>
            <a:ext cx="112395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479539" y="1787271"/>
            <a:ext cx="771246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38200" y="2076831"/>
            <a:ext cx="10515600" cy="0"/>
          </a:xfrm>
          <a:prstGeom prst="line">
            <a:avLst/>
          </a:prstGeom>
          <a:noFill/>
          <a:ln w="19050">
            <a:solidFill>
              <a:srgbClr val="2325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8200" y="2495931"/>
            <a:ext cx="105156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8200" y="2915031"/>
            <a:ext cx="105156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8200" y="3334131"/>
            <a:ext cx="105156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200" y="3753231"/>
            <a:ext cx="105156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" y="4172331"/>
            <a:ext cx="105156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200" y="4591431"/>
            <a:ext cx="105156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200" y="5010531"/>
            <a:ext cx="105156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500" y="2221611"/>
            <a:ext cx="11239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名称（db_name）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79539" y="2221611"/>
            <a:ext cx="771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下拉框与提问时的标识，如「生产MySQL」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2500" y="2640711"/>
            <a:ext cx="11239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79539" y="2640711"/>
            <a:ext cx="771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/ ClickHouse / PostgreSQL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2500" y="3059811"/>
            <a:ext cx="11239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/ 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79539" y="3059811"/>
            <a:ext cx="771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数据库地址和端口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2500" y="3478911"/>
            <a:ext cx="11239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79539" y="3478911"/>
            <a:ext cx="771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物理库名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2500" y="3898011"/>
            <a:ext cx="11239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 / 密码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79539" y="3898011"/>
            <a:ext cx="771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密码加密存储；编辑时留空 = 保留原密码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2500" y="4317111"/>
            <a:ext cx="11239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Wren 项目（语义层）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79539" y="4317111"/>
            <a:ext cx="771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选中走语义层，留空走直连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2500" y="4736211"/>
            <a:ext cx="11239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测试连接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79539" y="4736211"/>
            <a:ext cx="77124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保存前验证地址与凭据是否正确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8200" y="5172456"/>
            <a:ext cx="10515600" cy="952500"/>
          </a:xfrm>
          <a:prstGeom prst="roundRect">
            <a:avLst>
              <a:gd name="adj" fmla="val 2000"/>
            </a:avLst>
          </a:prstGeom>
          <a:solidFill>
            <a:srgbClr val="E9E8E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81088" y="5389944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78581" y="104775"/>
                </a:moveTo>
                <a:cubicBezTo>
                  <a:pt x="80328" y="96044"/>
                  <a:pt x="84693" y="89932"/>
                  <a:pt x="91678" y="82947"/>
                </a:cubicBezTo>
                <a:cubicBezTo>
                  <a:pt x="100409" y="75089"/>
                  <a:pt x="104775" y="63738"/>
                  <a:pt x="104775" y="52388"/>
                </a:cubicBezTo>
                <a:arcTo hR="52388" wR="52388" stAng="0" swAng="-10800000"/>
                <a:cubicBezTo>
                  <a:pt x="0" y="61119"/>
                  <a:pt x="1746" y="71596"/>
                  <a:pt x="13097" y="82947"/>
                </a:cubicBezTo>
                <a:cubicBezTo>
                  <a:pt x="19209" y="89059"/>
                  <a:pt x="24448" y="96044"/>
                  <a:pt x="26194" y="104775"/>
                </a:cubicBez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7281" y="5529644"/>
            <a:ext cx="52388" cy="6548"/>
          </a:xfrm>
          <a:custGeom>
            <a:avLst/>
            <a:gdLst/>
            <a:ahLst/>
            <a:cxnLst/>
            <a:rect l="l" t="t" r="r" b="b"/>
            <a:pathLst>
              <a:path w="52388" h="6548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16013" y="5564569"/>
            <a:ext cx="34925" cy="6548"/>
          </a:xfrm>
          <a:custGeom>
            <a:avLst/>
            <a:gdLst/>
            <a:ahLst/>
            <a:cxnLst/>
            <a:rect l="l" t="t" r="r" b="b"/>
            <a:pathLst>
              <a:path w="34925" h="6548">
                <a:moveTo>
                  <a:pt x="0" y="0"/>
                </a:moveTo>
                <a:lnTo>
                  <a:pt x="34925" y="0"/>
                </a:ln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5370576"/>
            <a:ext cx="10820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新增或修改（含首次配语义层、改 Host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1600" y="5694426"/>
            <a:ext cx="10820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与密码）保存后立即生效、无需重启后端；若提示工具未起来，到语义库页构建一次即可。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1049000" cy="480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1500" dirty="0">
                <a:solidFill>
                  <a:srgbClr val="0A0E14">
                    <a:alpha val="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14400" y="2998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第四章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352800"/>
            <a:ext cx="914400" cy="19050"/>
          </a:xfrm>
          <a:prstGeom prst="rect">
            <a:avLst/>
          </a:prstGeom>
          <a:solidFill>
            <a:srgbClr val="A8861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80460"/>
            <a:ext cx="11277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PART 03 语义库配置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38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语义库是给 AI 用的业务字典：按业务口径预先建模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四种接入方式：按现状选一条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028700" y="2044065"/>
            <a:ext cx="11163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77275" y="2044065"/>
            <a:ext cx="911472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183005" y="2044065"/>
            <a:ext cx="700899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2325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01002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新建（推荐）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77275" y="2478405"/>
            <a:ext cx="91147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没有现成项目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83005" y="2478405"/>
            <a:ext cx="70089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选库 → 提取表结构 → 填知识 → 校验构建 → 应用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从 Git 拉取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77275" y="2897505"/>
            <a:ext cx="91147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团队已有仓库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83005" y="2897505"/>
            <a:ext cx="70089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填仓库地址与分支，关联数据库；同名先备份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关联本地目录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77275" y="3316605"/>
            <a:ext cx="91147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项目已在服务器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83005" y="3316605"/>
            <a:ext cx="70089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填目录绝对路径 + 关联数据库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接入 Git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77275" y="3735705"/>
            <a:ext cx="91147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先建库后有仓库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83005" y="3735705"/>
            <a:ext cx="70089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备份本地 → 整目录替换 → 自动构建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252913"/>
            <a:ext cx="10363200" cy="628650"/>
          </a:xfrm>
          <a:prstGeom prst="roundRect">
            <a:avLst>
              <a:gd name="adj" fmla="val 3030"/>
            </a:avLst>
          </a:prstGeom>
          <a:solidFill>
            <a:srgbClr val="E9E8E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2205" y="4479010"/>
            <a:ext cx="174764" cy="157285"/>
          </a:xfrm>
          <a:custGeom>
            <a:avLst/>
            <a:gdLst/>
            <a:ahLst/>
            <a:cxnLst/>
            <a:rect l="l" t="t" r="r" b="b"/>
            <a:pathLst>
              <a:path w="174764" h="157285">
                <a:moveTo>
                  <a:pt x="172425" y="131090"/>
                </a:moveTo>
                <a:lnTo>
                  <a:pt x="102575" y="8853"/>
                </a:lnTo>
                <a:arcTo hR="17463" wR="17463" stAng="19827518" swAng="-7255037"/>
                <a:lnTo>
                  <a:pt x="2340" y="131090"/>
                </a:lnTo>
                <a:arcTo hR="17463" wR="17463" stAng="12600161" swAng="-7231094"/>
                <a:lnTo>
                  <a:pt x="157320" y="157284"/>
                </a:lnTo>
                <a:arcTo hR="17463" wR="17463" stAng="5396476" swAng="-7196478"/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9675" y="4531519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9675" y="4601369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7800" y="4451033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凭据安全：连接凭据不从 Git 仓库读取，一律用「关联数据库」的本地加密连接信息。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22960"/>
            <a:ext cx="104775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新建语义库：骨架与表结构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6250"/>
            </a:avLst>
          </a:prstGeom>
          <a:solidFill>
            <a:srgbClr val="0E6245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914525"/>
            <a:ext cx="5086350" cy="952500"/>
          </a:xfrm>
          <a:custGeom>
            <a:avLst/>
            <a:gdLst/>
            <a:ahLst/>
            <a:cxnLst/>
            <a:rect l="l" t="t" r="r" b="b"/>
            <a:pathLst>
              <a:path w="5086350" h="952500">
                <a:moveTo>
                  <a:pt x="0" y="209550"/>
                </a:moveTo>
                <a:lnTo>
                  <a:pt x="4552950" y="209550"/>
                </a:lnTo>
                <a:lnTo>
                  <a:pt x="4552950" y="0"/>
                </a:lnTo>
                <a:lnTo>
                  <a:pt x="5086350" y="476250"/>
                </a:lnTo>
                <a:lnTo>
                  <a:pt x="4552950" y="952500"/>
                </a:lnTo>
                <a:lnTo>
                  <a:pt x="455295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0E6245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2181225"/>
            <a:ext cx="419100" cy="419100"/>
          </a:xfrm>
          <a:prstGeom prst="ellipse">
            <a:avLst/>
          </a:prstGeom>
          <a:solidFill>
            <a:srgbClr val="F5F3EC"/>
          </a:solidFill>
          <a:ln w="23813">
            <a:solidFill>
              <a:srgbClr val="0E62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2335530"/>
            <a:ext cx="255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81150" y="2295525"/>
            <a:ext cx="10610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Step 1　基本信息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0880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选目标库 → 填项目名（英文）→ 创建项目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1250" y="1914525"/>
            <a:ext cx="5086350" cy="952500"/>
          </a:xfrm>
          <a:custGeom>
            <a:avLst/>
            <a:gdLst/>
            <a:ahLst/>
            <a:cxnLst/>
            <a:rect l="l" t="t" r="r" b="b"/>
            <a:pathLst>
              <a:path w="5086350" h="952500">
                <a:moveTo>
                  <a:pt x="0" y="209550"/>
                </a:moveTo>
                <a:lnTo>
                  <a:pt x="4552950" y="209550"/>
                </a:lnTo>
                <a:lnTo>
                  <a:pt x="4552950" y="0"/>
                </a:lnTo>
                <a:lnTo>
                  <a:pt x="5086350" y="476250"/>
                </a:lnTo>
                <a:lnTo>
                  <a:pt x="4552950" y="952500"/>
                </a:lnTo>
                <a:lnTo>
                  <a:pt x="455295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0E6245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3650" y="2181225"/>
            <a:ext cx="419100" cy="419100"/>
          </a:xfrm>
          <a:prstGeom prst="ellipse">
            <a:avLst/>
          </a:prstGeom>
          <a:solidFill>
            <a:srgbClr val="F5F3EC"/>
          </a:solidFill>
          <a:ln w="23813">
            <a:solidFill>
              <a:srgbClr val="0E62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35530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2295525"/>
            <a:ext cx="533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Step 2　提取表结构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1250" y="3088005"/>
            <a:ext cx="60007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勾选要建模的表 → 生成模型文件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452813"/>
            <a:ext cx="10363200" cy="628650"/>
          </a:xfrm>
          <a:prstGeom prst="roundRect">
            <a:avLst>
              <a:gd name="adj" fmla="val 3030"/>
            </a:avLst>
          </a:prstGeom>
          <a:solidFill>
            <a:srgbClr val="E9E8E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7288" y="3670300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78581" y="104775"/>
                </a:moveTo>
                <a:cubicBezTo>
                  <a:pt x="80328" y="96044"/>
                  <a:pt x="84693" y="89932"/>
                  <a:pt x="91678" y="82947"/>
                </a:cubicBezTo>
                <a:cubicBezTo>
                  <a:pt x="100409" y="75089"/>
                  <a:pt x="104775" y="63738"/>
                  <a:pt x="104775" y="52388"/>
                </a:cubicBezTo>
                <a:arcTo hR="52388" wR="52388" stAng="0" swAng="-10800000"/>
                <a:cubicBezTo>
                  <a:pt x="0" y="61119"/>
                  <a:pt x="1746" y="71596"/>
                  <a:pt x="13097" y="82947"/>
                </a:cubicBezTo>
                <a:cubicBezTo>
                  <a:pt x="19209" y="89059"/>
                  <a:pt x="24448" y="96044"/>
                  <a:pt x="26194" y="104775"/>
                </a:cubicBez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3481" y="3810000"/>
            <a:ext cx="52388" cy="6548"/>
          </a:xfrm>
          <a:custGeom>
            <a:avLst/>
            <a:gdLst/>
            <a:ahLst/>
            <a:cxnLst/>
            <a:rect l="l" t="t" r="r" b="b"/>
            <a:pathLst>
              <a:path w="52388" h="6548">
                <a:moveTo>
                  <a:pt x="0" y="0"/>
                </a:moveTo>
                <a:lnTo>
                  <a:pt x="52388" y="0"/>
                </a:ln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92213" y="3844925"/>
            <a:ext cx="34925" cy="6548"/>
          </a:xfrm>
          <a:custGeom>
            <a:avLst/>
            <a:gdLst/>
            <a:ahLst/>
            <a:cxnLst/>
            <a:rect l="l" t="t" r="r" b="b"/>
            <a:pathLst>
              <a:path w="34925" h="6548">
                <a:moveTo>
                  <a:pt x="0" y="0"/>
                </a:moveTo>
                <a:lnTo>
                  <a:pt x="34925" y="0"/>
                </a:lnTo>
              </a:path>
            </a:pathLst>
          </a:custGeom>
          <a:noFill/>
          <a:ln w="17463">
            <a:solidFill>
              <a:srgbClr val="A886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7800" y="3650933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经验：只勾选与业务查询相关的表，建模范围越聚焦，AI 选表越准。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60217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项目名称即语义库目录名，建议英文，如 sales_analysis；必须先完成数据库配置，这一步才有库可选。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五类业务知识：口径写在这里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028700" y="1882140"/>
            <a:ext cx="11163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知识类型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341889" y="1882140"/>
            <a:ext cx="885011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33346" y="1882140"/>
            <a:ext cx="525865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171700"/>
            <a:ext cx="10363200" cy="0"/>
          </a:xfrm>
          <a:prstGeom prst="line">
            <a:avLst/>
          </a:prstGeom>
          <a:noFill/>
          <a:ln w="19050">
            <a:solidFill>
              <a:srgbClr val="2325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90800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09900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429000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848100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267200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31648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术语表 glossary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41889" y="2316480"/>
            <a:ext cx="88501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业务术语 → 字段映射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3346" y="2316480"/>
            <a:ext cx="52586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「活跃用户」= login_date ≥ 30 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273558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指标定义 metrics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41889" y="2735580"/>
            <a:ext cx="88501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指标计算公式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3346" y="2735580"/>
            <a:ext cx="52586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销售额 = SUM(amount)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8700" y="315468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 rules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41889" y="3154680"/>
            <a:ext cx="88501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每次对话都会注入给 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33346" y="3154680"/>
            <a:ext cx="52586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默认查最近 30 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357378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示例 sql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41889" y="3573780"/>
            <a:ext cx="88501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+ 参考 SQL 的典型查询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33346" y="3573780"/>
            <a:ext cx="52586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「每月销量」+ SELECT 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399288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 caveats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41889" y="3992880"/>
            <a:ext cx="88501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数据质量与边界情况提醒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33346" y="3992880"/>
            <a:ext cx="52586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退款单金额是负数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891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一个文件 = 一条知识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47891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补充」生成草稿后再保存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51892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保存后即时生效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55892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口径问题多源于知识缺失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22960"/>
            <a:ext cx="104775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校验 · 构建 · 应用 · 上传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6250"/>
            </a:avLst>
          </a:prstGeom>
          <a:solidFill>
            <a:srgbClr val="0E6245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868424"/>
            <a:ext cx="5086350" cy="952500"/>
          </a:xfrm>
          <a:custGeom>
            <a:avLst/>
            <a:gdLst/>
            <a:ahLst/>
            <a:cxnLst/>
            <a:rect l="l" t="t" r="r" b="b"/>
            <a:pathLst>
              <a:path w="5086350" h="952500">
                <a:moveTo>
                  <a:pt x="0" y="209550"/>
                </a:moveTo>
                <a:lnTo>
                  <a:pt x="4552950" y="209550"/>
                </a:lnTo>
                <a:lnTo>
                  <a:pt x="4552950" y="0"/>
                </a:lnTo>
                <a:lnTo>
                  <a:pt x="5086350" y="476250"/>
                </a:lnTo>
                <a:lnTo>
                  <a:pt x="4552950" y="952500"/>
                </a:lnTo>
                <a:lnTo>
                  <a:pt x="455295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0E6245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2135124"/>
            <a:ext cx="419100" cy="419100"/>
          </a:xfrm>
          <a:prstGeom prst="ellipse">
            <a:avLst/>
          </a:prstGeom>
          <a:solidFill>
            <a:srgbClr val="F5F3EC"/>
          </a:solidFill>
          <a:ln w="23813">
            <a:solidFill>
              <a:srgbClr val="0E62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2289429"/>
            <a:ext cx="255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81150" y="2249424"/>
            <a:ext cx="10610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Step 4　校验与构建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041904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「校验」检查语义库是否有效，并显示模型 / 视图 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51454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关系数量；「构建」生成查询所需的 MDL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461004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文件，修改模型或知识后可反复执行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250" y="1868424"/>
            <a:ext cx="5086350" cy="952500"/>
          </a:xfrm>
          <a:custGeom>
            <a:avLst/>
            <a:gdLst/>
            <a:ahLst/>
            <a:cxnLst/>
            <a:rect l="l" t="t" r="r" b="b"/>
            <a:pathLst>
              <a:path w="5086350" h="952500">
                <a:moveTo>
                  <a:pt x="0" y="209550"/>
                </a:moveTo>
                <a:lnTo>
                  <a:pt x="4552950" y="209550"/>
                </a:lnTo>
                <a:lnTo>
                  <a:pt x="4552950" y="0"/>
                </a:lnTo>
                <a:lnTo>
                  <a:pt x="5086350" y="476250"/>
                </a:lnTo>
                <a:lnTo>
                  <a:pt x="4552950" y="952500"/>
                </a:lnTo>
                <a:lnTo>
                  <a:pt x="455295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0E6245"/>
          </a:solidFill>
          <a:ln/>
        </p:spPr>
      </p:sp>
      <p:sp>
        <p:nvSpPr>
          <p:cNvPr id="14" name="Shape 12"/>
          <p:cNvSpPr/>
          <p:nvPr/>
        </p:nvSpPr>
        <p:spPr>
          <a:xfrm>
            <a:off x="6343650" y="2135124"/>
            <a:ext cx="419100" cy="419100"/>
          </a:xfrm>
          <a:prstGeom prst="ellipse">
            <a:avLst/>
          </a:prstGeom>
          <a:solidFill>
            <a:srgbClr val="F5F3EC"/>
          </a:solidFill>
          <a:ln w="23813">
            <a:solidFill>
              <a:srgbClr val="0E62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289429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2249424"/>
            <a:ext cx="533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Step 5　应用与上传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91250" y="3041904"/>
            <a:ext cx="60007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「应用至项目」把语义库关联到选中数据库，后续查询走语义层通道；「上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1250" y="3251454"/>
            <a:ext cx="60007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传至 Git」可选，填仓库地址、分支、标签与提交信息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744849"/>
            <a:ext cx="10363200" cy="1276350"/>
          </a:xfrm>
          <a:prstGeom prst="roundRect">
            <a:avLst>
              <a:gd name="adj" fmla="val 1493"/>
            </a:avLst>
          </a:prstGeom>
          <a:solidFill>
            <a:srgbClr val="E9E8E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2363" y="3962337"/>
            <a:ext cx="174625" cy="174625"/>
          </a:xfrm>
          <a:prstGeom prst="ellipse">
            <a:avLst/>
          </a:pr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9675" y="4049649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34925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9675" y="4014724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7800" y="3942969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日常操作：Git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47800" y="4266819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来源可「更新」拉取分支或标签，并可勾选更新后自动构建；「删除」会解绑所有关联并删除本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47800" y="4590669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地目录，不可恢复，有二次确认。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5183124"/>
            <a:ext cx="10363200" cy="952500"/>
          </a:xfrm>
          <a:prstGeom prst="roundRect">
            <a:avLst>
              <a:gd name="adj" fmla="val 2000"/>
            </a:avLst>
          </a:prstGeom>
          <a:solidFill>
            <a:srgbClr val="E9E8E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2205" y="5409221"/>
            <a:ext cx="174764" cy="157285"/>
          </a:xfrm>
          <a:custGeom>
            <a:avLst/>
            <a:gdLst/>
            <a:ahLst/>
            <a:cxnLst/>
            <a:rect l="l" t="t" r="r" b="b"/>
            <a:pathLst>
              <a:path w="174764" h="157285">
                <a:moveTo>
                  <a:pt x="172425" y="131090"/>
                </a:moveTo>
                <a:lnTo>
                  <a:pt x="102575" y="8853"/>
                </a:lnTo>
                <a:arcTo hR="17463" wR="17463" stAng="19827518" swAng="-7255037"/>
                <a:lnTo>
                  <a:pt x="2340" y="131090"/>
                </a:lnTo>
                <a:arcTo hR="17463" wR="17463" stAng="12600161" swAng="-7231094"/>
                <a:lnTo>
                  <a:pt x="157320" y="157284"/>
                </a:lnTo>
                <a:arcTo hR="17463" wR="17463" stAng="5396476" swAng="-7196478"/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9675" y="5461730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09675" y="5531580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47800" y="5381244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高频排错：配了语义层仍提示找不到库，九成是未「构建」（没有 MDL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47800" y="5705094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文件），点一次构建即可。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1049000" cy="480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1500" dirty="0">
                <a:solidFill>
                  <a:srgbClr val="0A0E14">
                    <a:alpha val="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5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14400" y="2998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第五章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352800"/>
            <a:ext cx="914400" cy="19050"/>
          </a:xfrm>
          <a:prstGeom prst="rect">
            <a:avLst/>
          </a:prstGeom>
          <a:solidFill>
            <a:srgbClr val="A8861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80460"/>
            <a:ext cx="11277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PART 04 其他功能模块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38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/ 深度思考 / SQL审批 / 评估 / 工作区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五个模块速览：保持默认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028700" y="2044065"/>
            <a:ext cx="11163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模块（设置标签页）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29951" y="2044065"/>
            <a:ext cx="936204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53372" y="2044065"/>
            <a:ext cx="443862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使用建议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333625"/>
            <a:ext cx="10363200" cy="0"/>
          </a:xfrm>
          <a:prstGeom prst="line">
            <a:avLst/>
          </a:prstGeom>
          <a:noFill/>
          <a:ln w="19050">
            <a:solidFill>
              <a:srgbClr val="2325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5272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7182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9092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01002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429125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4784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29951" y="2478405"/>
            <a:ext cx="936204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自定义哪些词会被当成数据查询（逗号分隔）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53372" y="2478405"/>
            <a:ext cx="44386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默认配置即可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28975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深度思考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29951" y="2897505"/>
            <a:ext cx="936204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打开后回答前展示推理折叠块，可展开查看过程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53372" y="2897505"/>
            <a:ext cx="44386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默认即可；排查结果异常时临时开启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8700" y="33166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SQL审批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29951" y="3316605"/>
            <a:ext cx="936204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写操作 SQL 执行前人工审批（批准/拒绝/编辑后提交）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53372" y="3316605"/>
            <a:ext cx="44386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功能暂未上线，可忽略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37357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29951" y="3735705"/>
            <a:ext cx="936204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后台自动打分链路总开关、LLM-judge 开关与采样率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53372" y="3735705"/>
            <a:ext cx="44386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默认即可；省 token 时可只关 LLM 打分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4154805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29951" y="4154805"/>
            <a:ext cx="936204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隔离不同项目的库配置 / 语义库 / 对话 / 报告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3372" y="4154805"/>
            <a:ext cx="44386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单项目使用保持默认工作区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672013"/>
            <a:ext cx="10363200" cy="628650"/>
          </a:xfrm>
          <a:prstGeom prst="roundRect">
            <a:avLst>
              <a:gd name="adj" fmla="val 3030"/>
            </a:avLst>
          </a:prstGeom>
          <a:solidFill>
            <a:srgbClr val="E9E8E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05" y="4898110"/>
            <a:ext cx="174764" cy="157285"/>
          </a:xfrm>
          <a:custGeom>
            <a:avLst/>
            <a:gdLst/>
            <a:ahLst/>
            <a:cxnLst/>
            <a:rect l="l" t="t" r="r" b="b"/>
            <a:pathLst>
              <a:path w="174764" h="157285">
                <a:moveTo>
                  <a:pt x="172425" y="131090"/>
                </a:moveTo>
                <a:lnTo>
                  <a:pt x="102575" y="8853"/>
                </a:lnTo>
                <a:arcTo hR="17463" wR="17463" stAng="19827518" swAng="-7255037"/>
                <a:lnTo>
                  <a:pt x="2340" y="131090"/>
                </a:lnTo>
                <a:arcTo hR="17463" wR="17463" stAng="12600161" swAng="-7231094"/>
                <a:lnTo>
                  <a:pt x="157320" y="157284"/>
                </a:lnTo>
                <a:arcTo hR="17463" wR="17463" stAng="5396476" swAng="-7196478"/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09675" y="4950619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9675" y="5020469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9C5A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47800" y="4870133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以上配置保存后均即时生效，无需重启后端；普通用户不要改动，误改后联系管理员恢复。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1049000" cy="480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1500" dirty="0">
                <a:solidFill>
                  <a:srgbClr val="0A0E14">
                    <a:alpha val="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6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14400" y="2998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第六章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352800"/>
            <a:ext cx="914400" cy="19050"/>
          </a:xfrm>
          <a:prstGeom prst="rect">
            <a:avLst/>
          </a:prstGeom>
          <a:solidFill>
            <a:srgbClr val="A8861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80460"/>
            <a:ext cx="11277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PART 05 待标注工作台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38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面向开发与语义库维护人员：处理用户反馈的标注流水线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22960"/>
            <a:ext cx="104775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反馈闭环：从点赞点踩到考题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6250"/>
            </a:avLst>
          </a:prstGeom>
          <a:solidFill>
            <a:srgbClr val="0E6245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02077" y="3400425"/>
            <a:ext cx="1634681" cy="7144"/>
          </a:xfrm>
          <a:custGeom>
            <a:avLst/>
            <a:gdLst/>
            <a:ahLst/>
            <a:cxnLst/>
            <a:rect l="l" t="t" r="r" b="b"/>
            <a:pathLst>
              <a:path w="1634681" h="7144">
                <a:moveTo>
                  <a:pt x="0" y="0"/>
                </a:moveTo>
                <a:lnTo>
                  <a:pt x="1634681" y="0"/>
                </a:lnTo>
              </a:path>
            </a:pathLst>
          </a:custGeom>
          <a:noFill/>
          <a:ln w="14288">
            <a:solidFill>
              <a:srgbClr val="6265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22458" y="3343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62655B"/>
          </a:solidFill>
          <a:ln/>
        </p:spPr>
      </p:sp>
      <p:sp>
        <p:nvSpPr>
          <p:cNvPr id="8" name="Shape 6"/>
          <p:cNvSpPr/>
          <p:nvPr/>
        </p:nvSpPr>
        <p:spPr>
          <a:xfrm>
            <a:off x="6186107" y="2447925"/>
            <a:ext cx="1664017" cy="813816"/>
          </a:xfrm>
          <a:custGeom>
            <a:avLst/>
            <a:gdLst/>
            <a:ahLst/>
            <a:cxnLst/>
            <a:rect l="l" t="t" r="r" b="b"/>
            <a:pathLst>
              <a:path w="1664017" h="813816">
                <a:moveTo>
                  <a:pt x="0" y="813816"/>
                </a:moveTo>
                <a:lnTo>
                  <a:pt x="152400" y="813816"/>
                </a:lnTo>
                <a:quadBezTo>
                  <a:pt x="304800" y="813816"/>
                  <a:pt x="304800" y="661416"/>
                </a:quadBezTo>
                <a:lnTo>
                  <a:pt x="304800" y="152400"/>
                </a:lnTo>
                <a:quadBezTo>
                  <a:pt x="304800" y="0"/>
                  <a:pt x="457200" y="0"/>
                </a:quadBezTo>
                <a:lnTo>
                  <a:pt x="1664017" y="0"/>
                </a:lnTo>
              </a:path>
            </a:pathLst>
          </a:custGeom>
          <a:noFill/>
          <a:ln w="14288">
            <a:solidFill>
              <a:srgbClr val="6265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35870" y="23907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62655B"/>
          </a:solidFill>
          <a:ln/>
        </p:spPr>
      </p:sp>
      <p:sp>
        <p:nvSpPr>
          <p:cNvPr id="10" name="Shape 8"/>
          <p:cNvSpPr/>
          <p:nvPr/>
        </p:nvSpPr>
        <p:spPr>
          <a:xfrm>
            <a:off x="6186107" y="3539109"/>
            <a:ext cx="1715262" cy="813816"/>
          </a:xfrm>
          <a:custGeom>
            <a:avLst/>
            <a:gdLst/>
            <a:ahLst/>
            <a:cxnLst/>
            <a:rect l="l" t="t" r="r" b="b"/>
            <a:pathLst>
              <a:path w="1715262" h="813816">
                <a:moveTo>
                  <a:pt x="0" y="0"/>
                </a:moveTo>
                <a:lnTo>
                  <a:pt x="152400" y="0"/>
                </a:lnTo>
                <a:quadBezTo>
                  <a:pt x="304800" y="0"/>
                  <a:pt x="304800" y="152400"/>
                </a:quadBezTo>
                <a:lnTo>
                  <a:pt x="304800" y="661416"/>
                </a:lnTo>
                <a:quadBezTo>
                  <a:pt x="304800" y="813816"/>
                  <a:pt x="457200" y="813816"/>
                </a:quadBezTo>
                <a:lnTo>
                  <a:pt x="1715262" y="813816"/>
                </a:lnTo>
              </a:path>
            </a:pathLst>
          </a:custGeom>
          <a:noFill/>
          <a:ln w="14288">
            <a:solidFill>
              <a:srgbClr val="6265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7076" y="42957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62655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08557" y="2867025"/>
            <a:ext cx="1524000" cy="1066800"/>
          </a:xfrm>
          <a:prstGeom prst="roundRect">
            <a:avLst>
              <a:gd name="adj" fmla="val 17857"/>
            </a:avLst>
          </a:prstGeom>
          <a:solidFill>
            <a:srgbClr val="E6E6E0"/>
          </a:solidFill>
          <a:ln w="14288">
            <a:solidFill>
              <a:srgbClr val="0E62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3263265"/>
            <a:ext cx="434111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待判断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04157" y="2867025"/>
            <a:ext cx="2114550" cy="1066800"/>
          </a:xfrm>
          <a:custGeom>
            <a:avLst/>
            <a:gdLst/>
            <a:ahLst/>
            <a:cxnLst/>
            <a:rect l="l" t="t" r="r" b="b"/>
            <a:pathLst>
              <a:path w="2114550" h="1066800">
                <a:moveTo>
                  <a:pt x="1057275" y="0"/>
                </a:moveTo>
                <a:lnTo>
                  <a:pt x="2114550" y="533400"/>
                </a:lnTo>
                <a:lnTo>
                  <a:pt x="1057275" y="1066800"/>
                </a:lnTo>
                <a:lnTo>
                  <a:pt x="0" y="533400"/>
                </a:lnTo>
                <a:close/>
              </a:path>
            </a:pathLst>
          </a:custGeom>
          <a:solidFill>
            <a:srgbClr val="EAE1C6"/>
          </a:solidFill>
          <a:ln w="14288">
            <a:solidFill>
              <a:srgbClr val="A88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3263265"/>
            <a:ext cx="1072286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标注中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90307" y="1914525"/>
            <a:ext cx="2993136" cy="1066800"/>
          </a:xfrm>
          <a:prstGeom prst="roundRect">
            <a:avLst>
              <a:gd name="adj" fmla="val 5357"/>
            </a:avLst>
          </a:prstGeom>
          <a:solidFill>
            <a:srgbClr val="FCFBF6"/>
          </a:solidFill>
          <a:ln w="14288">
            <a:solidFill>
              <a:srgbClr val="0E62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750" y="2310765"/>
            <a:ext cx="58102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 Good Set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843647" y="3819525"/>
            <a:ext cx="2886456" cy="1066800"/>
          </a:xfrm>
          <a:prstGeom prst="roundRect">
            <a:avLst>
              <a:gd name="adj" fmla="val 5357"/>
            </a:avLst>
          </a:prstGeom>
          <a:solidFill>
            <a:srgbClr val="FCFBF6"/>
          </a:solidFill>
          <a:ln w="14288">
            <a:solidFill>
              <a:srgbClr val="0E62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1750" y="4215765"/>
            <a:ext cx="58102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已驳回 BadCase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376517" y="3133725"/>
            <a:ext cx="685800" cy="190500"/>
          </a:xfrm>
          <a:prstGeom prst="roundRect">
            <a:avLst>
              <a:gd name="adj" fmla="val 10000"/>
            </a:avLst>
          </a:prstGeom>
          <a:solidFill>
            <a:srgbClr val="F5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3107055"/>
            <a:ext cx="74388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判定有效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838" y="2181225"/>
            <a:ext cx="533400" cy="190500"/>
          </a:xfrm>
          <a:prstGeom prst="roundRect">
            <a:avLst>
              <a:gd name="adj" fmla="val 10000"/>
            </a:avLst>
          </a:prstGeom>
          <a:solidFill>
            <a:srgbClr val="F5F3EC"/>
          </a:solidFill>
          <a:ln/>
        </p:spPr>
      </p:sp>
      <p:sp>
        <p:nvSpPr>
          <p:cNvPr id="23" name="Text 21"/>
          <p:cNvSpPr/>
          <p:nvPr/>
        </p:nvSpPr>
        <p:spPr>
          <a:xfrm>
            <a:off x="2149076" y="2154555"/>
            <a:ext cx="100429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补金标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3241" y="4429125"/>
            <a:ext cx="685800" cy="190500"/>
          </a:xfrm>
          <a:prstGeom prst="roundRect">
            <a:avLst>
              <a:gd name="adj" fmla="val 10000"/>
            </a:avLst>
          </a:prstGeom>
          <a:solidFill>
            <a:srgbClr val="F5F3EC"/>
          </a:solidFill>
          <a:ln/>
        </p:spPr>
      </p:sp>
      <p:sp>
        <p:nvSpPr>
          <p:cNvPr id="25" name="Text 23"/>
          <p:cNvSpPr/>
          <p:nvPr/>
        </p:nvSpPr>
        <p:spPr>
          <a:xfrm>
            <a:off x="2200283" y="4402455"/>
            <a:ext cx="999171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有效差评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5048250"/>
            <a:ext cx="10363200" cy="952500"/>
          </a:xfrm>
          <a:prstGeom prst="roundRect">
            <a:avLst>
              <a:gd name="adj" fmla="val 2000"/>
            </a:avLst>
          </a:prstGeom>
          <a:solidFill>
            <a:srgbClr val="E9E8E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2363" y="5265738"/>
            <a:ext cx="174625" cy="174625"/>
          </a:xfrm>
          <a:prstGeom prst="ellipse">
            <a:avLst/>
          </a:pr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9675" y="5353050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34925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09675" y="5318125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47800" y="5246370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点赞自动入集门槛宽松，优先复核这批；有效差评转为 BadCase 考题。撤回会删 Langfuse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47800" y="5570220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 item，删除待评估记录不可恢复。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514600"/>
            <a:ext cx="11049000" cy="480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1500" dirty="0">
                <a:solidFill>
                  <a:srgbClr val="0A0E14">
                    <a:alpha val="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7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14400" y="2998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第七章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3352800"/>
            <a:ext cx="914400" cy="19050"/>
          </a:xfrm>
          <a:prstGeom prst="rect">
            <a:avLst/>
          </a:prstGeom>
          <a:solidFill>
            <a:srgbClr val="A8861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80460"/>
            <a:ext cx="112776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PART 06 离线测试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4438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面向开发与维护人员：改了提示词/技能/语义库，效果变好还是变差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822960"/>
            <a:ext cx="104775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三步跑一轮 A/B 门禁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6250"/>
            </a:avLst>
          </a:prstGeom>
          <a:solidFill>
            <a:srgbClr val="0E6245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914525"/>
            <a:ext cx="3327400" cy="952500"/>
          </a:xfrm>
          <a:custGeom>
            <a:avLst/>
            <a:gdLst/>
            <a:ahLst/>
            <a:cxnLst/>
            <a:rect l="l" t="t" r="r" b="b"/>
            <a:pathLst>
              <a:path w="3327400" h="952500">
                <a:moveTo>
                  <a:pt x="0" y="209550"/>
                </a:moveTo>
                <a:lnTo>
                  <a:pt x="2794000" y="209550"/>
                </a:lnTo>
                <a:lnTo>
                  <a:pt x="2794000" y="0"/>
                </a:lnTo>
                <a:lnTo>
                  <a:pt x="3327400" y="476250"/>
                </a:lnTo>
                <a:lnTo>
                  <a:pt x="2794000" y="952500"/>
                </a:lnTo>
                <a:lnTo>
                  <a:pt x="279400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0E6245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2181225"/>
            <a:ext cx="419100" cy="419100"/>
          </a:xfrm>
          <a:prstGeom prst="ellipse">
            <a:avLst/>
          </a:prstGeom>
          <a:solidFill>
            <a:srgbClr val="F5F3EC"/>
          </a:solidFill>
          <a:ln w="23813">
            <a:solidFill>
              <a:srgbClr val="0E62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2335530"/>
            <a:ext cx="255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81150" y="2295525"/>
            <a:ext cx="10610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Step 1　数据集与参数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0880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选题集；设条数上限与门禁阈值 ±0.05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2300" y="1914525"/>
            <a:ext cx="3327400" cy="952500"/>
          </a:xfrm>
          <a:custGeom>
            <a:avLst/>
            <a:gdLst/>
            <a:ahLst/>
            <a:cxnLst/>
            <a:rect l="l" t="t" r="r" b="b"/>
            <a:pathLst>
              <a:path w="3327400" h="952500">
                <a:moveTo>
                  <a:pt x="0" y="209550"/>
                </a:moveTo>
                <a:lnTo>
                  <a:pt x="2794000" y="209550"/>
                </a:lnTo>
                <a:lnTo>
                  <a:pt x="2794000" y="0"/>
                </a:lnTo>
                <a:lnTo>
                  <a:pt x="3327400" y="476250"/>
                </a:lnTo>
                <a:lnTo>
                  <a:pt x="2794000" y="952500"/>
                </a:lnTo>
                <a:lnTo>
                  <a:pt x="279400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0E624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84700" y="2181225"/>
            <a:ext cx="419100" cy="419100"/>
          </a:xfrm>
          <a:prstGeom prst="ellipse">
            <a:avLst/>
          </a:prstGeom>
          <a:solidFill>
            <a:srgbClr val="F5F3EC"/>
          </a:solidFill>
          <a:ln w="23813">
            <a:solidFill>
              <a:srgbClr val="0E62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2335530"/>
            <a:ext cx="9588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99050" y="2295525"/>
            <a:ext cx="7092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Step 2　对比臂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32300" y="3088005"/>
            <a:ext cx="7759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每臂 = 臂名 + Prompt / Skill / 语义库版本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0200" y="1914525"/>
            <a:ext cx="3327400" cy="952500"/>
          </a:xfrm>
          <a:custGeom>
            <a:avLst/>
            <a:gdLst/>
            <a:ahLst/>
            <a:cxnLst/>
            <a:rect l="l" t="t" r="r" b="b"/>
            <a:pathLst>
              <a:path w="3327400" h="952500">
                <a:moveTo>
                  <a:pt x="0" y="209550"/>
                </a:moveTo>
                <a:lnTo>
                  <a:pt x="2794000" y="209550"/>
                </a:lnTo>
                <a:lnTo>
                  <a:pt x="2794000" y="0"/>
                </a:lnTo>
                <a:lnTo>
                  <a:pt x="3327400" y="476250"/>
                </a:lnTo>
                <a:lnTo>
                  <a:pt x="2794000" y="952500"/>
                </a:lnTo>
                <a:lnTo>
                  <a:pt x="279400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0E624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2600" y="2181225"/>
            <a:ext cx="419100" cy="419100"/>
          </a:xfrm>
          <a:prstGeom prst="ellipse">
            <a:avLst/>
          </a:prstGeom>
          <a:solidFill>
            <a:srgbClr val="F5F3EC"/>
          </a:solidFill>
          <a:ln w="23813">
            <a:solidFill>
              <a:srgbClr val="0E62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2300" y="2335530"/>
            <a:ext cx="7759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16950" y="2295525"/>
            <a:ext cx="35750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Step 3　运行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0200" y="3088005"/>
            <a:ext cx="4241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点运行看实时进度，历史可回看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452813"/>
            <a:ext cx="10363200" cy="952500"/>
          </a:xfrm>
          <a:prstGeom prst="roundRect">
            <a:avLst>
              <a:gd name="adj" fmla="val 2000"/>
            </a:avLst>
          </a:prstGeom>
          <a:solidFill>
            <a:srgbClr val="E9E8E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2363" y="3670300"/>
            <a:ext cx="174625" cy="174625"/>
          </a:xfrm>
          <a:prstGeom prst="ellipse">
            <a:avLst/>
          </a:pr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9675" y="3757613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34925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9675" y="3722688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7800" y="3650933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结果解读：核心评分含业务正确分、SQL 合法性、执行成功率、语义匹配；PASS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47800" y="3974783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可发布，FAIL 不建议发布。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60217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第一个臂设为线上基准 ref；门禁阈值默认 ±0.05，整体与简单查询子集双重门槛；LLM 判分开关默认关闭。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三个必须记住的点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971550" y="2869883"/>
            <a:ext cx="914400" cy="914400"/>
          </a:xfrm>
          <a:prstGeom prst="ellipse">
            <a:avLst/>
          </a:prstGeom>
          <a:solidFill>
            <a:srgbClr val="0E6245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195409"/>
            <a:ext cx="2857500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03</a:t>
            </a:r>
            <a:endParaRPr lang="en-US" sz="2304" dirty="0"/>
          </a:p>
        </p:txBody>
      </p:sp>
      <p:sp>
        <p:nvSpPr>
          <p:cNvPr id="6" name="Shape 4"/>
          <p:cNvSpPr/>
          <p:nvPr/>
        </p:nvSpPr>
        <p:spPr>
          <a:xfrm>
            <a:off x="2114550" y="1936433"/>
            <a:ext cx="7124700" cy="838200"/>
          </a:xfrm>
          <a:prstGeom prst="roundRect">
            <a:avLst>
              <a:gd name="adj" fmla="val 2273"/>
            </a:avLst>
          </a:pr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8370" y="2020253"/>
            <a:ext cx="670560" cy="670560"/>
          </a:xfrm>
          <a:prstGeom prst="ellipse">
            <a:avLst/>
          </a:prstGeom>
          <a:solidFill>
            <a:srgbClr val="A8861D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2261235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002280" y="2107883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未构建就没有 MDL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02280" y="2410778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语义层报「找不到库」的第一大原因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2286953"/>
            <a:ext cx="9105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最高频问题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14550" y="2907983"/>
            <a:ext cx="7124700" cy="838200"/>
          </a:xfrm>
          <a:prstGeom prst="roundRect">
            <a:avLst>
              <a:gd name="adj" fmla="val 2273"/>
            </a:avLst>
          </a:pr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8370" y="2991802"/>
            <a:ext cx="670560" cy="670560"/>
          </a:xfrm>
          <a:prstGeom prst="ellipse">
            <a:avLst/>
          </a:prstGeom>
          <a:solidFill>
            <a:srgbClr val="A8861D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3232785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002280" y="3079433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保存即生效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02280" y="3382328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库、语义库、模型、评估开关都无需重启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3258503"/>
            <a:ext cx="9105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运维省心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14550" y="3879532"/>
            <a:ext cx="7124700" cy="838200"/>
          </a:xfrm>
          <a:prstGeom prst="roundRect">
            <a:avLst>
              <a:gd name="adj" fmla="val 2273"/>
            </a:avLst>
          </a:prstGeom>
          <a:solidFill>
            <a:srgbClr val="FCFBF6"/>
          </a:solidFill>
          <a:ln w="9525">
            <a:solidFill>
              <a:srgbClr val="DDD9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8370" y="3963352"/>
            <a:ext cx="670560" cy="670560"/>
          </a:xfrm>
          <a:prstGeom prst="ellipse">
            <a:avLst/>
          </a:prstGeom>
          <a:solidFill>
            <a:srgbClr val="A8861D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204335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002280" y="4050982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结果不准先查知识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02280" y="4353878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术语、指标口径、规则入库后重新提问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230053"/>
            <a:ext cx="9105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26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口径优先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936808"/>
            <a:ext cx="8382000" cy="952500"/>
          </a:xfrm>
          <a:prstGeom prst="roundRect">
            <a:avLst>
              <a:gd name="adj" fmla="val 2000"/>
            </a:avLst>
          </a:prstGeom>
          <a:solidFill>
            <a:srgbClr val="E9E8E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2363" y="5154295"/>
            <a:ext cx="174625" cy="174625"/>
          </a:xfrm>
          <a:prstGeom prst="ellipse">
            <a:avLst/>
          </a:pr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9675" y="5241607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34925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9675" y="5206683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0E62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7800" y="5134928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配置顺序：① 模型 → ② 数据库 → ③ 语义库（补知识 · 校验 · 构建 · 应用）→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47800" y="5458777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5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前端提问验证；维护人员另负责待标注与离线测试。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2655B">
                    <a:alpha val="30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23</a:t>
            </a:r>
            <a:endParaRPr lang="en-US" sz="4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0E6245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结论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2026920"/>
            <a:ext cx="112776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用户操作手册.md　配置与使用全流程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2750820"/>
            <a:ext cx="112776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系统功能清单_客户培训.md　功能与角色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112776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3251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wrenai语义库编写教程.md　语义库怎么写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363200" cy="0"/>
          </a:xfrm>
          <a:prstGeom prst="line">
            <a:avLst/>
          </a:prstGeom>
          <a:noFill/>
          <a:ln w="9525">
            <a:solidFill>
              <a:srgbClr val="DDD9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135880"/>
            <a:ext cx="11277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62655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配套资料：用户操作手册.md · 系统功能清单_客户培训.md · wrenai语义库编写教程.md</a:t>
            </a:r>
            <a:endParaRPr lang="en-US" sz="19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