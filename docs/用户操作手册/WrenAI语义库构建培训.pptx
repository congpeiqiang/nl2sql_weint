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 2 分钟。本次培训目标：让每位同学能独立新增或修改一个视图与立方体，并知道口径改动要同步到哪里。先给预期——语义库不是一次性交付物，而是持续沉淀团队口径的工程。当前库规模：48 模型 / 852 列 / 5 视图 / 6 立方 / 88 指标 / 96 维度 / 18 个知识条目，全部可在仓库里自行验证。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分钟。逐行说明章节顺序的理由：先对齐问题，再对齐位置，然后才是动手，最后是验证与治理。提醒学员第 3 章会讲得最细，需要记笔记。下方四个数字是当前语义库的真实规模，取自 target/mdl.json。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秒转场。这一页只讲一件事：物理库里没有业务含义。念完定义就走，不要展开。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分钟，本章最重要的一页。先问学员：拿到“上个月各部门工时”，你会怎么写 SQL？大多数人会直接猜表名——这正是 AI 每天在做的事。五行逐条讲，重点是第三行（正确性）和第五行（性能）。收尾强调：语义库不改表结构、不落数据，只是解释层，消除大家对动生产库的顾虑。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分钟。场景：语义库刚建好时，`deleted` 字段全库被标成了 VARCHAR，而数据库里它是 bit(1)。
错误做法的连锁反应要讲透：引擎按字符串比较，`deleted = 0` 直接报废；更麻烦的是 knowledge/rules 里凡是写 `deleted = 0` 的例子、以及所有视图里的过滤条件，全部失效。
修复：把类型映射固化进生成脚本（INT/BIGINT/TINYINT → INTEGER，VARCHAR/CHAR/TEXT → VARCHAR，DATETIME/TIMESTAMP → TIMESTAMP），全库重新生成，201 列 / 148 张表一次性恢复。
落到学员身上的两条：① models/ 不要手改，改了下次重生成就丢；② 类型问题要整库修，不能只补一列。
【页脚原结论】一次类型标错，全库过滤一起失效 —— 类型映射归生成脚本管，改一处要整库重生成。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分钟。这是最阴险的一类坑：宽表数据还在，查询也能跑通，只是行数悄悄变少——不报错，但结论是错的。
实测数字：do_story_wide 9,752 行 vs do_story 有效 24,896 行；do_bug_wide 28,987 行 vs 60,873 行，只有 49%。用宽表算“需求总量”，会稳定地少报 60%。
根因：宽表背后的 ETL 已停用（逻辑删除），但语义库里模型文件没删。
修复：需求域改用 v_story、缺陷域改用 v_bug（都是全量、1 行/主体），并把停用模型从语义库删除——只删语义库文件，物理表不动。
流程提醒：删除对象前先 git grep 全库搜引用，否则 knowledge/sql 里的历史样例会继续指向它。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分钟。四条按“会不会被 AI 踩到”排序，不是按严重程度。第二条最容易被低估：视图已经内置过滤，但主表要手动写，每张 JOIN 表都要写。第三条要举缺陷状态的例子：新字典只有 4 个值，数据里却有旧流程码，不分开列 AI 一定读错。第四条是本库的口径约定：已取消的需求不该拉低团队完成率。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秒转场。从“为什么”转到“是什么”：上游项目、核心概念、以及本库的目录结构。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分钟。一句话讲透 MDL：数据库告诉你“有个字段叫 status”，MDL 告诉你“status = 4 是已退款”。完整框架还有 Skills（Agent 必须先查记忆、必须 dry-plan 再执行）与 Connectors（执行与权限）两层，这里只展开与我们语义库直接相关的三层。核心机制是 fail loudly：错误在规划期暴露，而不是悄悄跑出一条看着对、其实错的 SQL。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分钟。让学员先记住“三层你写、一层自动、一层编译”，不要背字段。引用是单向的：物理表 → models（自动）→ views（你写）→ cubes（你写）；knowledge 平行补充口径，不参与编译。两条硬约束要讲：立方体只能绑一个视图或模型；视图只能引用物理表，不能引用别的视图，所有关联都在视图里做完。target/mdl.json 是构建产物却要提交，这点反直觉，要专门强调。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分钟。这是全课的路标页。用“改哪里”来记忆：改过滤和映射去 views，改指标口径去 cubes，改业务解释和坑去 knowledge。models 只在字段作废时看一眼 hidden。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秒转场。提示学员：接下来三页是本次培训的核心，需要记笔记。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分钟，重点页。自上而下讲：先看文件结构，再定粒度与过滤，最后是五条会踩的硬限制。第 ③ 层逐条解释报错原文。特别是“每张 JOIN 表 deleted = 0 写在 ON 里”：写在 WHERE 里 LEFT JOIN 会退化成 INNER JOIN，统计口径直接变了，而且不报错。最重要的提醒：context validate 通过 ≠ 视图能规划，多数限制在规划期才暴露，所以每次改完必须 dry-plan 或 --sql-only。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分钟。场景：有人问“最近的工时情况”，AI 写成“最近 30 天”，结果混进了还没发生的报工记录。
实测依据：do_work_hour.date 最大值到 2026-09-30（当时库当前日期 09-12），说明存在未来预填；do_date_config 更预配到 2026-10-10。
两条修复：① 视图/查询里把窗口写死成 `date BETWEEN '起' AND '止'`，禁止“最近 N 天”；② 确实需要“截至今天”的口径时，显式写 `AND date &lt;= CURRENT_DATE` 收口。
补充一个易混点：两个工时表范围不同、同窗口下数值也有差异（主表 vs 明细宽表），同一次分析内不要混用，并在结论里注明用了哪张表。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分钟。这条是全库最高频的错误来源，也是唯一会“静默改变连接语义”的写法。
左边写法看起来没问题，但 WHERE 里的 s.deleted 会把没有需求的那些项目整行剔除——LEFT JOIN 变成了 INNER JOIN，“没有需求的项目数”这类结论直接消失。
右边写法把子表条件放回 ON，主表条件留在 WHERE，连接语义就对了。
数据背景要强调：小表上这个错误看不出来，但在 do_work_hour_detail_extend（357 万行、96% 软删）上，差的是 18 倍的数据量。视图已经内置了过滤，但直接查主表时每张 JOIN 表都要自己写。
【页脚原结论】把子表过滤写进 WHERE，LEFT JOIN 会静默退化成 INNER JOIN；正确写法是放在 ON 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分钟。左右对照讲：左边是“过滤 + 派生”，右边是“映射 + 预聚合”，覆盖视图的两大用途。重点讲右边第一行与最后一行：为什么不能把 do_story_project 直接 JOIN 进视图？因为会放大行数，让所有按需求的计数变成按关联的计数，结论全错。收尾点出命名规范：编码与名称成对，两者都留——编码便于精确过滤，名称便于分组展示。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分钟。一句话定义：立方体是结构化聚合 API。上游文档称之为“对较小模型而言最高杠杆的正确性原语”。story_delivery 是最完整的一个：23 个指标、23 个维度，覆盖规模、完成率、及时性、工作量四类。task_timeliness 要特别说明：它绑的是宽表 do_task_report，只覆盖 2/3/4 三类业务，用它得出结论时必须注明样本范围——这是绑定宽表的代价。最后一句反过来讲：不是什么指标都该建立方体。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分钟，重点页。四张卡自上而下就是立方体的结构顺序：绑定对象 → 指标 → 维度 → 层级。
配一个真实例子讲透分母：story_delivery 的 done_rate 写成 SUM(CASE WHEN status_code = 14 THEN 1 ELSE 0 END) * 1.0 / NULLIF(SUM(CASE WHEN status_code &lt;&gt; 6 THEN 1 ELSE 0 END), 0)，description 写“需求完成率（已完成 / 排除已取消后的需求数）”。为什么排除已取消？用户取消的需求不该拉低团队完成率——这是团队约定的口径，不是行业标准，所以要写进描述。
三条约定里第一条最常被违反：MySQL 里除零得到 NULL，会让整列结果消失，排查很痛苦。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分钟。场景：迭代燃尽最早按“工作量”算完成率，结果数字荒唐——某天 12 个迭代合计工作量只有 7.0，而需求数是 300。
根因两条：① 燃尽快照里的工作量字段 76%~87% 为 0，数据本身不完整；② 快照只对活跃迭代每天写入，某天通常只有 10~15 个迭代有快照，不是全量迭代。所以 `statistic_date = MAX(...)` 只等于“最近一天的活跃迭代”，不等于每个迭代的最新进度。
修复：立方体主口径从“工作量”改为“需求数量”；视图同时带出收官快照标记（覆盖 333 个迭代，约等于每迭代最终进度）与最新快照日标记。工作量类字段保留但标注“慎用”。
这次变更还带来一个正面示范：口径改了，旧版本可以直接对比——这正是把口径写成文件的好处。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分钟。核心认知：视图与立方体解决“能不能算对”，知识库解决“AI 知不知道该怎么算”。五个目录各司其职。术语表 28KB 是枚举的唯一真源——任何编码含义有疑问，先查这里，不要猜。常见陷阱 30+ 条是新人必读，建议课后完整看一遍。sql/ 那 12 条样例是 Agent 的记忆：过期样例会被召回并复用，所以口径变更时必须同步更新它们。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分钟。这段是模板，让学员照着写。四个数字（191 / 1141 / 309 / 325）都是实测的。
重点讲“为什么错误写法也要写进去”：因为 AI 会自己想出这些写法，必须提前堵死。三种错误写法分别对应三种误解：① 把历史快照当当前数据；② 用去重人数当在职人数；③ 用报工表人数当花名册。
术语表的“新码与历史码分开列”——缺陷状态就是活案例：新字典只有 0~3，数据里还有旧流程码约 1.1 万行。
最后强调 footnote：metrics 里的公式说明，与 cubes/*/metadata.yml 里的 description 是同一件事的两个副本，改一处就要改另一处。
【页脚原文】其余目录同一原则：glossary 把新码与历史码分开列；metrics 写清公式与分母；caveats 一条陷阱 = 现象 + 实测数字 + 正确做法。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秒转场。从“怎么写”转到“怎么证明写对了”。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分钟。强调这是一条固定流水线，每次改完都要跑，不要跳步。
① validate —— 输出 Valid — 48 models, 5 views, 0 relationships.；只想查描述缺失可加 --level strict。
② build —— 不 build 引擎就看不到改动，这一步最容易被忘。
③ cube list —— 确认登记状态，改名/删除后要确认旧名已消失。
④ --sql-only —— 最省时间的一步，不连库就能看出粒度、过滤、区间对不对。
⑤ 真跑 + 视图层复核 —— 立方体和视图两条路走一遍，数字自洽才算通过。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分钟。对数三问是本课最该带走的东西。任何指标写完，先自己回答这三个问题，再去找业务对数。
右侧两条教训都是实测的：① 员工在职用视图查 190、用源表查 1141，同一问题写法不同差 6 倍——190 才是“当前在职”口径；② 立方体时间区间是左闭右开，想统计 8 月整月必须写到 2026-09-01，写成 08-31 会漏掉当天，实测少算 1400 小时工时的数据。
最后推荐 dry-plan：它是“看得见的编译”，排查“为什么结果不对”时极有帮助。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分钟。这是全课最实用的一次事故复盘。需求很常见：一张表里同时看各项目的需求数和缺陷数。
左边写法：`do_project LEFT JOIN do_story LEFT JOIN do_bug`，外层用 COUNT(DISTINCT s.id) 和 COUNT(DISTINCT b.id) 想去重。很多人会以为 DISTINCT 能解决问题——不能，因为去重发生在笛卡尔积之后，中间结果已经炸了。实测 60.5 秒超时。
右边写法：需求、缺陷各自 `GROUP BY project_id` 预聚合，再按项目 JOIN，只要 0.09 秒。
要求背诵判定规则：一条 SQL 需要同时从 2 张以上“一对多”业务表取指标时，必须先各自子查询预聚合。只 JOIN 一张业务表时可以直接聚合，不必过度改写。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分钟。这是最近一次真实口径事故（2026-09-15 确认）。
表格就是证据：平台侧把缺陷状态字典换成了 4 个值（0 待开始、1 进行中、2 已结束、3 待完善），但数据里还留着约 1.1 万行旧流程码 —— 4 已取消约 4,560 行、99 关闭约 6,925 行，另有 5/6/9/97 少量。如果按新字典解读这些旧码，结论会相反，比如把“已取消”当成“待开始”。
三条修复：
① 视图里保留 status_code 与 status_name 成对，历史码的显示名加“(历史码)”后缀；
② 术语表把新码与历史码分开列，并标注实测行数；
③ 给一句可直接照做的口径结论：status &lt;&gt; 2 视为未结束，并排除 4/99 等历史码。
同批的四个字典（优先级/类别/环境/解决结果）在 sys_mng 库、当前账号无权访问，语义库选择“暂不映射”、只给原始码。这是正当决策：宁可给码，不要猜中文名。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分钟。左列讲一条就够：预聚合（60.5 秒 → 0.09 秒）。其余都是常识性优化，但每条都配了实测数字，说明这不是风格偏好，而是能不能出结果。
右列十项建议做成 Git 提交模板或 PR 模板，减少遗漏。
特别提最后一项：口径变化要同步 glossary / rules / metrics / caveats / sql 五处知识文件，漏掉 sql/ 里的历史样例最危险——它们是 Agent 的记忆，会被召回并复用。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分钟。这页不用讲，告诉学员“截图保存，遇到报错先查这里；完整原文见使用手册 5.7”。
时间紧就只点两条：
① gbk codec 报错 —— 第一次用必定遇到，是 Windows 默认编码问题，设 $env:PYTHONUTF8 = '1' 即可。
② “连到别的库” —— 最危险，因为它不报错但数据是错的：语义库项目没绑 profile 时会回退到全局 active profile，而本机全局 active 可能指向另一个数据库（例如 chinook）。
其余按字面排查：名字类报错先想“全局唯一”，build 类报错先想“是不是改完没编译”。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分钟说明 + 课后完成。四个任务递进：①② 熟悉工具，③ 是核心（完整走一遍新增视图 + 立方体），④ 是治理演练。
任务二的要点是看懂“编译”：dry-plan 会把 v_workhour 展开成对 do_work_hour_detail_extend 的查询，并注入 deleted = 0 —— 这是理解语义层最好的方式。
任务三的验收关键是数字：视图查 190、源表查 1141，能解释差异才算真的做对。
验收就看 ③ 和 ④。强调练习用只读账号，不会影响生产，鼓励大胆试。建议课后一周内提交任务三的产出，由导师评审。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分钟收尾。三条方法论回扣第 1 章的问题与第 2 章的 MDL 契约：
① 脚手架先行 —— 先把 profile + validate + build 跑通，再逐表逐口径 enrich；
② 实测驱动 —— 口径、行数、耗时先在库里验证，再写回 YAML 与文档，数字必须带日期；
③ 互相印证 —— 视图与立方体的定义，和 knowledge 里的文档必须一致，不一致就是 Bug。
资料索引（口头交代，课后自行查阅）：
① witops-wrenai 仓库 —— 唯一真源，YAML 与知识文档都在里面；
② docs/用户操作手册/wrenai语义库编写教程.md —— 逐字段参考，比课件细；
③ 同目录 wrenai语义库编写使用手册_v1.md —— 从零到跑通的完整流程；
④ knowledge/caveats/常见陷阱.md —— 30+ 条实测陷阱，新人必读；
⑤ 上游概念文档 docs.getwren.ai/oss/concepts/what_is_mdl 与 …/correctness。
最后：约定课后作业（上机任务三）的提交时间，现场答疑。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EEAF6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143000"/>
            <a:ext cx="10363200" cy="0"/>
          </a:xfrm>
          <a:prstGeom prst="line">
            <a:avLst/>
          </a:prstGeom>
          <a:noFill/>
          <a:ln w="19050">
            <a:solidFill>
              <a:srgbClr val="2E74B5">
                <a:alpha val="81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849630"/>
            <a:ext cx="11277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唯因特 · 运营管理平台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541270"/>
            <a:ext cx="11277600" cy="61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WrenAI 语义库构建培训</a:t>
            </a:r>
            <a:endParaRPr lang="en-US" sz="4050" dirty="0"/>
          </a:p>
        </p:txBody>
      </p:sp>
      <p:sp>
        <p:nvSpPr>
          <p:cNvPr id="6" name="Shape 4"/>
          <p:cNvSpPr/>
          <p:nvPr/>
        </p:nvSpPr>
        <p:spPr>
          <a:xfrm>
            <a:off x="914400" y="4476750"/>
            <a:ext cx="4191000" cy="838200"/>
          </a:xfrm>
          <a:prstGeom prst="rect">
            <a:avLst/>
          </a:prstGeom>
          <a:solidFill>
            <a:srgbClr val="BDD7EE"/>
          </a:solidFill>
          <a:ln/>
        </p:spPr>
      </p:sp>
      <p:sp>
        <p:nvSpPr>
          <p:cNvPr id="7" name="Text 5"/>
          <p:cNvSpPr/>
          <p:nvPr/>
        </p:nvSpPr>
        <p:spPr>
          <a:xfrm>
            <a:off x="1181100" y="4690110"/>
            <a:ext cx="110109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数据平台组 · 语义库维护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1181100" y="4994910"/>
            <a:ext cx="110109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唯因特 · 2026-09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914400" y="6096000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901" name="Header Band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" name="Header Rule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02920" y="109728"/>
            <a:ext cx="100584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四章讲完，重点是“三层编写”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28700" y="2044065"/>
            <a:ext cx="111633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章节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054323" y="2044065"/>
            <a:ext cx="1013767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讲什么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518162" y="2044065"/>
            <a:ext cx="667383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为什么放在这里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4400" y="2333625"/>
            <a:ext cx="1036320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7527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1718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5909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0100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8700" y="24784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54323" y="2478405"/>
            <a:ext cx="1013767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为什么需要语义层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18162" y="2478405"/>
            <a:ext cx="667383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先对齐问题：不写口径，AI 会稳定地踩坑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28700" y="28975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 章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54323" y="2897505"/>
            <a:ext cx="1013767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WrenAI 定位与文件地图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18162" y="2897505"/>
            <a:ext cx="667383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知道自己是这条链上的哪一环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8700" y="33166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 章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54323" y="3316605"/>
            <a:ext cx="1013767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三层编写（重点）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18162" y="3316605"/>
            <a:ext cx="667383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视图 / 立方 / 知识，日常改动量的九成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8700" y="37357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4 章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54323" y="3735705"/>
            <a:ext cx="1013767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验证、治理与上机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18162" y="3735705"/>
            <a:ext cx="667383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改完怎么证明是对的，以及动手验收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4171950"/>
            <a:ext cx="2476500" cy="1314450"/>
          </a:xfrm>
          <a:prstGeom prst="roundRect">
            <a:avLst>
              <a:gd name="adj" fmla="val 1449"/>
            </a:avLst>
          </a:prstGeom>
          <a:solidFill>
            <a:srgbClr val="EAF2FA"/>
          </a:solidFill>
          <a:ln/>
        </p:spPr>
      </p:sp>
      <p:sp>
        <p:nvSpPr>
          <p:cNvPr id="25" name="Text 23"/>
          <p:cNvSpPr/>
          <p:nvPr/>
        </p:nvSpPr>
        <p:spPr>
          <a:xfrm>
            <a:off x="1104900" y="4419600"/>
            <a:ext cx="11087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48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104900" y="4964430"/>
            <a:ext cx="11087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建模表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04900" y="5135880"/>
            <a:ext cx="11087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models/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543300" y="4171950"/>
            <a:ext cx="2476500" cy="1314450"/>
          </a:xfrm>
          <a:prstGeom prst="roundRect">
            <a:avLst>
              <a:gd name="adj" fmla="val 1449"/>
            </a:avLst>
          </a:prstGeom>
          <a:solidFill>
            <a:srgbClr val="EAF2FA"/>
          </a:solidFill>
          <a:ln/>
        </p:spPr>
      </p:sp>
      <p:sp>
        <p:nvSpPr>
          <p:cNvPr id="29" name="Text 27"/>
          <p:cNvSpPr/>
          <p:nvPr/>
        </p:nvSpPr>
        <p:spPr>
          <a:xfrm>
            <a:off x="3733800" y="4419600"/>
            <a:ext cx="8458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3733800" y="4964430"/>
            <a:ext cx="84582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语义层视图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733800" y="5135880"/>
            <a:ext cx="84582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views/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72200" y="4171950"/>
            <a:ext cx="2476500" cy="1314450"/>
          </a:xfrm>
          <a:prstGeom prst="roundRect">
            <a:avLst>
              <a:gd name="adj" fmla="val 1449"/>
            </a:avLst>
          </a:prstGeom>
          <a:solidFill>
            <a:srgbClr val="EAF2FA"/>
          </a:solidFill>
          <a:ln/>
        </p:spPr>
      </p:sp>
      <p:sp>
        <p:nvSpPr>
          <p:cNvPr id="33" name="Text 31"/>
          <p:cNvSpPr/>
          <p:nvPr/>
        </p:nvSpPr>
        <p:spPr>
          <a:xfrm>
            <a:off x="6362700" y="4419600"/>
            <a:ext cx="58293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6362700" y="4964430"/>
            <a:ext cx="5829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立方体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62700" y="5135880"/>
            <a:ext cx="5829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cubes/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801100" y="4171950"/>
            <a:ext cx="2476500" cy="1314450"/>
          </a:xfrm>
          <a:prstGeom prst="roundRect">
            <a:avLst>
              <a:gd name="adj" fmla="val 1449"/>
            </a:avLst>
          </a:prstGeom>
          <a:solidFill>
            <a:srgbClr val="EAF2FA"/>
          </a:solidFill>
          <a:ln/>
        </p:spPr>
      </p:sp>
      <p:sp>
        <p:nvSpPr>
          <p:cNvPr id="37" name="Text 35"/>
          <p:cNvSpPr/>
          <p:nvPr/>
        </p:nvSpPr>
        <p:spPr>
          <a:xfrm>
            <a:off x="8991600" y="4419600"/>
            <a:ext cx="3200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8991600" y="4964430"/>
            <a:ext cx="32004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知识条目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991600" y="5135880"/>
            <a:ext cx="32004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knowledge/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EEAF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514600"/>
            <a:ext cx="11049000" cy="4800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31500" dirty="0">
                <a:solidFill>
                  <a:srgbClr val="1F3864">
                    <a:alpha val="5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31500" dirty="0"/>
          </a:p>
        </p:txBody>
      </p:sp>
      <p:sp>
        <p:nvSpPr>
          <p:cNvPr id="4" name="Text 2"/>
          <p:cNvSpPr/>
          <p:nvPr/>
        </p:nvSpPr>
        <p:spPr>
          <a:xfrm>
            <a:off x="914400" y="2998470"/>
            <a:ext cx="112776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914400" y="3352800"/>
            <a:ext cx="914400" cy="19050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680460"/>
            <a:ext cx="11277600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痛点：为什么需要语义层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14400" y="443865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数据库只描述怎么存，不描述什么意思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901" name="Header Band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" name="Header Rule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02920" y="109728"/>
            <a:ext cx="100584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数据库告诉你怎么存，语义层告诉你什么意思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079777" y="2044065"/>
            <a:ext cx="9112223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物理层现象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027907" y="2044065"/>
            <a:ext cx="5164093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语义层的对策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14400" y="2333625"/>
            <a:ext cx="1036320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7527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1718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5909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40100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4291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8700" y="24784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151 表只建模 48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79777" y="2478405"/>
            <a:ext cx="911222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会去查字典表、物料表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27907" y="2478405"/>
            <a:ext cx="516409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未建模对象不可引用，越界即失败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28700" y="28975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96% 是软删记录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79777" y="2897505"/>
            <a:ext cx="911222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明细宽表 357 万行，废数据占九成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27907" y="2897505"/>
            <a:ext cx="516409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视图内置 deleted = 0 过滤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8700" y="33166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status = 14 不明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79777" y="3316605"/>
            <a:ext cx="911222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新旧字典混在一张表里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27907" y="3316605"/>
            <a:ext cx="516409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视图 CASE 映射中文名 + 术语表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8700" y="37357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完成率各写各的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79777" y="3735705"/>
            <a:ext cx="911222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分母不同，同一问题两个答案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27907" y="3735705"/>
            <a:ext cx="516409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分母写进指标 description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28700" y="41548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多表 JOIN 超时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079777" y="4154805"/>
            <a:ext cx="911222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一对多直接 JOIN 实测 60.5 秒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27907" y="4154805"/>
            <a:ext cx="516409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视图预聚合，把粒度固定成一行一主体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901" name="Header Band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" name="Header Rule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02920" y="109728"/>
            <a:ext cx="100584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案例一 · 类型陷阱：一列标错，全库比较失效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2076450"/>
            <a:ext cx="10668000" cy="1943100"/>
          </a:xfrm>
          <a:prstGeom prst="roundRect">
            <a:avLst>
              <a:gd name="adj" fmla="val 2941"/>
            </a:avLst>
          </a:prstGeom>
          <a:solidFill>
            <a:srgbClr val="F2F4F7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240280"/>
            <a:ext cx="12001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699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76350" y="2240280"/>
            <a:ext cx="109156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columns: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2449830"/>
            <a:ext cx="12001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699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76350" y="2449830"/>
            <a:ext cx="109156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- name: deleted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2659380"/>
            <a:ext cx="12001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699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76350" y="2659380"/>
            <a:ext cx="109156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  type: VARCHAR      # 错：库里其实是 bit(1)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0" y="2868930"/>
            <a:ext cx="12001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699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76350" y="2868930"/>
            <a:ext cx="109156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0" y="3078480"/>
            <a:ext cx="12001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699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76350" y="3078480"/>
            <a:ext cx="109156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- name: deleted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0" y="3288030"/>
            <a:ext cx="12001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699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76350" y="3288030"/>
            <a:ext cx="109156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  type: INTEGER      # 对：bit(1) 统一映射为 INTEGER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0" y="3497580"/>
            <a:ext cx="12001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699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7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76350" y="3497580"/>
            <a:ext cx="109156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0" y="3707130"/>
            <a:ext cx="12001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699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76350" y="3707130"/>
            <a:ext cx="109156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# 201 列 / 148 张表一次性修正，重新生成即全库一致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901" name="Header Band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" name="Header Rule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02920" y="109728"/>
            <a:ext cx="100584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案例二 · 失效陷阱：宽表还有值，但已不被信任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790700" y="2044065"/>
            <a:ext cx="104013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错误做法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77103" y="2044065"/>
            <a:ext cx="571489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正确做法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14400" y="2333625"/>
            <a:ext cx="1036320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7527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1718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5909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40100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4291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8700" y="24784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90700" y="2478405"/>
            <a:ext cx="10401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图省事直接查宽表 wide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77103" y="2478405"/>
            <a:ext cx="571489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改查 v_story / v_bug 视图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28700" y="28975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90700" y="2897505"/>
            <a:ext cx="10401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需求宽表 9,752 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77103" y="2897505"/>
            <a:ext cx="571489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视图 24,898 行，与主表有效行一致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8700" y="33166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差距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90700" y="3316605"/>
            <a:ext cx="10401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缺陷宽表约 2.9 万行，只有主表 49%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77103" y="3316605"/>
            <a:ext cx="571489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全量，不再是子集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8700" y="37357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根因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90700" y="3735705"/>
            <a:ext cx="10401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宽表 ETL 停用，模型却还留着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77103" y="3735705"/>
            <a:ext cx="571489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选用视图，并移除失效模型文件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28700" y="41548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教训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790700" y="4154805"/>
            <a:ext cx="10401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还能查 ≠ 可信，模型存在就是承诺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77103" y="4154805"/>
            <a:ext cx="571489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移除模型前先全局搜引用，物理表不动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901" name="Header Band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" name="Header Rule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02920" y="109728"/>
            <a:ext cx="100584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不写口径，AI 会稳定地踩这四类坑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71550" y="3308604"/>
            <a:ext cx="914400" cy="914400"/>
          </a:xfrm>
          <a:prstGeom prst="ellipse">
            <a:avLst/>
          </a:prstGeom>
          <a:solidFill>
            <a:srgbClr val="BDD7EE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3634130"/>
            <a:ext cx="2857500" cy="351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304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2304" dirty="0"/>
          </a:p>
        </p:txBody>
      </p:sp>
      <p:sp>
        <p:nvSpPr>
          <p:cNvPr id="6" name="Shape 4"/>
          <p:cNvSpPr/>
          <p:nvPr/>
        </p:nvSpPr>
        <p:spPr>
          <a:xfrm>
            <a:off x="2114550" y="1889379"/>
            <a:ext cx="9105900" cy="838200"/>
          </a:xfrm>
          <a:prstGeom prst="roundRect">
            <a:avLst>
              <a:gd name="adj" fmla="val 2273"/>
            </a:avLst>
          </a:prstGeom>
          <a:solidFill>
            <a:srgbClr val="EAF2FA"/>
          </a:solidFill>
          <a:ln w="9525">
            <a:solidFill>
              <a:srgbClr val="D6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8370" y="1973199"/>
            <a:ext cx="670560" cy="67056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2214182"/>
            <a:ext cx="50673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3002280" y="2060829"/>
            <a:ext cx="9189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查了没建模的表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02280" y="2363724"/>
            <a:ext cx="91897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库内约 151 张表，语义库只建模 48 张；字典表、报销、请假都不可查。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0" y="2239899"/>
            <a:ext cx="11087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越界会直接规划失败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14550" y="2860929"/>
            <a:ext cx="9105900" cy="838200"/>
          </a:xfrm>
          <a:prstGeom prst="roundRect">
            <a:avLst>
              <a:gd name="adj" fmla="val 2273"/>
            </a:avLst>
          </a:prstGeom>
          <a:solidFill>
            <a:srgbClr val="EAF2FA"/>
          </a:solidFill>
          <a:ln w="9525">
            <a:solidFill>
              <a:srgbClr val="D6E4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98370" y="2944749"/>
            <a:ext cx="670560" cy="67056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3185732"/>
            <a:ext cx="50673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002280" y="3032379"/>
            <a:ext cx="9189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忘了过滤软删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02280" y="3335274"/>
            <a:ext cx="91897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deleted = 1 必须剔除，JOIN 的每一张表都要剔除。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0" y="3211449"/>
            <a:ext cx="11087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357 万行只剩 19.6 万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114550" y="3832479"/>
            <a:ext cx="9105900" cy="838200"/>
          </a:xfrm>
          <a:prstGeom prst="roundRect">
            <a:avLst>
              <a:gd name="adj" fmla="val 2273"/>
            </a:avLst>
          </a:prstGeom>
          <a:solidFill>
            <a:srgbClr val="EAF2FA"/>
          </a:solidFill>
          <a:ln w="9525">
            <a:solidFill>
              <a:srgbClr val="D6E4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98370" y="3916299"/>
            <a:ext cx="670560" cy="67056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4157282"/>
            <a:ext cx="50673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3002280" y="4003929"/>
            <a:ext cx="9189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把编码当未知数猜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002280" y="4306824"/>
            <a:ext cx="91897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status 在新旧字典里含义不同，凭字段名猜中文顺序错一位就全错。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0" y="4182999"/>
            <a:ext cx="11087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新码 0~3，旧码 1.1 万行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114550" y="4804029"/>
            <a:ext cx="9105900" cy="838200"/>
          </a:xfrm>
          <a:prstGeom prst="roundRect">
            <a:avLst>
              <a:gd name="adj" fmla="val 2273"/>
            </a:avLst>
          </a:prstGeom>
          <a:solidFill>
            <a:srgbClr val="EAF2FA"/>
          </a:solidFill>
          <a:ln w="9525">
            <a:solidFill>
              <a:srgbClr val="D6E4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8370" y="4887849"/>
            <a:ext cx="670560" cy="67056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6" name="Text 24"/>
          <p:cNvSpPr/>
          <p:nvPr/>
        </p:nvSpPr>
        <p:spPr>
          <a:xfrm>
            <a:off x="0" y="5128832"/>
            <a:ext cx="50673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3002280" y="4975479"/>
            <a:ext cx="9189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同一个指标两套分母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002280" y="5278374"/>
            <a:ext cx="91897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需求完成率的分母要排除已取消（status = 6）。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0" y="5154549"/>
            <a:ext cx="11087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对外两套数字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60579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这四类坑在 knowledge/caveats/常见陷阱.md 里都有实测条目 —— 新人必读。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EEAF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514600"/>
            <a:ext cx="11049000" cy="4800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31500" dirty="0">
                <a:solidFill>
                  <a:srgbClr val="1F3864">
                    <a:alpha val="5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31500" dirty="0"/>
          </a:p>
        </p:txBody>
      </p:sp>
      <p:sp>
        <p:nvSpPr>
          <p:cNvPr id="4" name="Text 2"/>
          <p:cNvSpPr/>
          <p:nvPr/>
        </p:nvSpPr>
        <p:spPr>
          <a:xfrm>
            <a:off x="914400" y="2998470"/>
            <a:ext cx="112776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第二章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914400" y="3352800"/>
            <a:ext cx="914400" cy="19050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680460"/>
            <a:ext cx="11277600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认识 WrenAI 与文件地图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14400" y="443865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上游项目、核心概念、本库目录结构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901" name="Header Band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" name="Header Rule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02920" y="109728"/>
            <a:ext cx="100584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MDL 是语义契约，不是文档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914525"/>
            <a:ext cx="10363200" cy="609600"/>
          </a:xfrm>
          <a:prstGeom prst="rect">
            <a:avLst/>
          </a:prstGeom>
          <a:solidFill>
            <a:srgbClr val="EAF2FA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154555"/>
            <a:ext cx="111252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L1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00200" y="2154555"/>
            <a:ext cx="10591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MDL 语义层：没建模的叫不出名字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05300" y="2154555"/>
            <a:ext cx="7886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把物理库翻译成模型、列、关系、视图、立方</a:t>
            </a:r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· </a:t>
            </a:r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只有 models/ 里的表与字段可被引用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524125"/>
            <a:ext cx="10363200" cy="609600"/>
          </a:xfrm>
          <a:prstGeom prst="rect">
            <a:avLst/>
          </a:prstGeom>
          <a:solidFill>
            <a:srgbClr val="EAF2FA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2764155"/>
            <a:ext cx="111252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L2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00200" y="2764155"/>
            <a:ext cx="10591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Memory 记忆：只给相关的那一片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05300" y="2764155"/>
            <a:ext cx="7886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索引 MDL + knowledge/rules + knowledge/sql</a:t>
            </a:r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· </a:t>
            </a:r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不把整库 schema 塞进提示词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133725"/>
            <a:ext cx="10363200" cy="609600"/>
          </a:xfrm>
          <a:prstGeom prst="rect">
            <a:avLst/>
          </a:prstGeom>
          <a:solidFill>
            <a:srgbClr val="EAF2FA"/>
          </a:solidFill>
          <a:ln/>
        </p:spPr>
      </p:sp>
      <p:sp>
        <p:nvSpPr>
          <p:cNvPr id="13" name="Text 11"/>
          <p:cNvSpPr/>
          <p:nvPr/>
        </p:nvSpPr>
        <p:spPr>
          <a:xfrm>
            <a:off x="1066800" y="3373755"/>
            <a:ext cx="111252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L3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00200" y="3373755"/>
            <a:ext cx="10591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Plan 规划校验：连库之前就报错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05300" y="3373755"/>
            <a:ext cx="7886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dry-plan 把建模 SQL 展开成将要执行的物理 SQL</a:t>
            </a:r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· </a:t>
            </a:r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列名错、关系缺，规划期直接失败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25241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1337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6021705"/>
            <a:ext cx="11277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上游项目 github.com/Canner/WrenAI（GenBI，支持 20+ 数据源）；本平台用其开源内核 wrenai 0.13.0。MDL = 语义契约。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901" name="Header Band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" name="Header Rule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02920" y="109728"/>
            <a:ext cx="100584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五层文件：谁写、谁生成、谁编译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2076450"/>
            <a:ext cx="10668000" cy="1943100"/>
          </a:xfrm>
          <a:prstGeom prst="roundRect">
            <a:avLst>
              <a:gd name="adj" fmla="val 2941"/>
            </a:avLst>
          </a:prstGeom>
          <a:solidFill>
            <a:srgbClr val="F2F4F7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240280"/>
            <a:ext cx="12001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699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76350" y="2240280"/>
            <a:ext cx="109156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witops-wrenai/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2449830"/>
            <a:ext cx="12001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699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76350" y="2449830"/>
            <a:ext cx="109156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├─ wren_project.yml     数据源与 profile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2659380"/>
            <a:ext cx="12001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699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76350" y="2659380"/>
            <a:ext cx="109156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├─ models/              48 个，自动生成勿手改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0" y="2868930"/>
            <a:ext cx="12001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699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76350" y="2868930"/>
            <a:ext cx="109156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├─ views/</a:t>
            </a:r>
            <a:pPr algn="l"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&lt;</a:t>
            </a:r>
            <a:pPr algn="l"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名</a:t>
            </a:r>
            <a:pPr algn="l"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&gt;</a:t>
            </a:r>
            <a:pPr algn="l"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/          metadata.yml + sql.yml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0" y="3078480"/>
            <a:ext cx="12001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699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76350" y="3078480"/>
            <a:ext cx="109156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├─ cubes/</a:t>
            </a:r>
            <a:pPr algn="l"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&lt;</a:t>
            </a:r>
            <a:pPr algn="l"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名</a:t>
            </a:r>
            <a:pPr algn="l"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&gt;</a:t>
            </a:r>
            <a:pPr algn="l"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/          metadata.yml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0" y="3288030"/>
            <a:ext cx="12001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699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76350" y="3288030"/>
            <a:ext cx="109156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├─ knowledge/           rules·glossary·metrics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0" y="3497580"/>
            <a:ext cx="12001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699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7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76350" y="3497580"/>
            <a:ext cx="109156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│                        ·caveats·sql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0" y="3707130"/>
            <a:ext cx="12001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699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76350" y="3707130"/>
            <a:ext cx="109156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└─ target/mdl.json      编译产物，引擎读它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901" name="Header Band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" name="Header Rule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02920" y="109728"/>
            <a:ext cx="100584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你要写的只有三层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752600"/>
            <a:ext cx="10363200" cy="947737"/>
          </a:xfrm>
          <a:prstGeom prst="roundRect">
            <a:avLst>
              <a:gd name="adj" fmla="val 2010"/>
            </a:avLst>
          </a:prstGeom>
          <a:solidFill>
            <a:srgbClr val="EAF2FA"/>
          </a:solidFill>
          <a:ln/>
        </p:spPr>
      </p:sp>
      <p:sp>
        <p:nvSpPr>
          <p:cNvPr id="5" name="Shape 3"/>
          <p:cNvSpPr/>
          <p:nvPr/>
        </p:nvSpPr>
        <p:spPr>
          <a:xfrm>
            <a:off x="1171575" y="2045494"/>
            <a:ext cx="361950" cy="361950"/>
          </a:xfrm>
          <a:prstGeom prst="ellipse">
            <a:avLst/>
          </a:prstGeom>
          <a:noFill/>
          <a:ln w="14288">
            <a:solidFill>
              <a:srgbClr val="C9D6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2161699"/>
            <a:ext cx="2705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47850" y="1878806"/>
            <a:ext cx="5953" cy="142875"/>
          </a:xfrm>
          <a:custGeom>
            <a:avLst/>
            <a:gdLst/>
            <a:ahLst/>
            <a:cxnLst/>
            <a:rect l="l" t="t" r="r" b="b"/>
            <a:pathLst>
              <a:path w="5953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/>
          <a:ln w="15875">
            <a:solidFill>
              <a:srgbClr val="2E74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76413" y="1878806"/>
            <a:ext cx="142875" cy="142875"/>
          </a:xfrm>
          <a:prstGeom prst="roundRect">
            <a:avLst>
              <a:gd name="adj" fmla="val 11111"/>
            </a:avLst>
          </a:prstGeom>
          <a:noFill/>
          <a:ln w="15875">
            <a:solidFill>
              <a:srgbClr val="2E74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76413" y="1926431"/>
            <a:ext cx="142875" cy="5953"/>
          </a:xfrm>
          <a:custGeom>
            <a:avLst/>
            <a:gdLst/>
            <a:ahLst/>
            <a:cxnLst/>
            <a:rect l="l" t="t" r="r" b="b"/>
            <a:pathLst>
              <a:path w="142875" h="5953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/>
          <a:ln w="15875">
            <a:solidFill>
              <a:srgbClr val="2E74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76413" y="1974056"/>
            <a:ext cx="142875" cy="5953"/>
          </a:xfrm>
          <a:custGeom>
            <a:avLst/>
            <a:gdLst/>
            <a:ahLst/>
            <a:cxnLst/>
            <a:rect l="l" t="t" r="r" b="b"/>
            <a:pathLst>
              <a:path w="142875" h="5953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/>
          <a:ln w="15875">
            <a:solidFill>
              <a:srgbClr val="2E74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38350" y="1872139"/>
            <a:ext cx="101536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views/ 稳定查询接口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1752600" y="2209324"/>
            <a:ext cx="104394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>
                    <a:alpha val="85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固化软删过滤、枚举中文名、多对多预聚合。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52600" y="2466499"/>
            <a:ext cx="104394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个视图覆盖五大业务域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2795588"/>
            <a:ext cx="10363200" cy="947737"/>
          </a:xfrm>
          <a:prstGeom prst="roundRect">
            <a:avLst>
              <a:gd name="adj" fmla="val 2010"/>
            </a:avLst>
          </a:prstGeom>
          <a:solidFill>
            <a:srgbClr val="EAF2FA"/>
          </a:solidFill>
          <a:ln/>
        </p:spPr>
      </p:sp>
      <p:sp>
        <p:nvSpPr>
          <p:cNvPr id="15" name="Shape 13"/>
          <p:cNvSpPr/>
          <p:nvPr/>
        </p:nvSpPr>
        <p:spPr>
          <a:xfrm>
            <a:off x="1171575" y="3088481"/>
            <a:ext cx="361950" cy="361950"/>
          </a:xfrm>
          <a:prstGeom prst="ellipse">
            <a:avLst/>
          </a:prstGeom>
          <a:noFill/>
          <a:ln w="14288">
            <a:solidFill>
              <a:srgbClr val="C9D6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3204686"/>
            <a:ext cx="2705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776413" y="2921794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0" y="0"/>
                </a:moveTo>
                <a:lnTo>
                  <a:pt x="0" y="127000"/>
                </a:lnTo>
                <a:arcTo hR="15875" wR="15875" stAng="10800000" swAng="-5400000"/>
                <a:lnTo>
                  <a:pt x="142875" y="142875"/>
                </a:lnTo>
              </a:path>
            </a:pathLst>
          </a:custGeom>
          <a:noFill/>
          <a:ln w="15875">
            <a:solidFill>
              <a:srgbClr val="2E74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95475" y="2969419"/>
            <a:ext cx="5953" cy="63500"/>
          </a:xfrm>
          <a:custGeom>
            <a:avLst/>
            <a:gdLst/>
            <a:ahLst/>
            <a:cxnLst/>
            <a:rect l="l" t="t" r="r" b="b"/>
            <a:pathLst>
              <a:path w="5953" h="63500">
                <a:moveTo>
                  <a:pt x="0" y="63500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2E74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55788" y="2937669"/>
            <a:ext cx="5953" cy="95250"/>
          </a:xfrm>
          <a:custGeom>
            <a:avLst/>
            <a:gdLst/>
            <a:ahLst/>
            <a:cxnLst/>
            <a:rect l="l" t="t" r="r" b="b"/>
            <a:pathLst>
              <a:path w="5953" h="95250">
                <a:moveTo>
                  <a:pt x="0" y="95250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2E74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16100" y="3009106"/>
            <a:ext cx="5953" cy="23813"/>
          </a:xfrm>
          <a:custGeom>
            <a:avLst/>
            <a:gdLst/>
            <a:ahLst/>
            <a:cxnLst/>
            <a:rect l="l" t="t" r="r" b="b"/>
            <a:pathLst>
              <a:path w="5953" h="23813">
                <a:moveTo>
                  <a:pt x="0" y="23813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2E74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38350" y="2915126"/>
            <a:ext cx="101536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cubes/ 受治理指标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1752600" y="3252311"/>
            <a:ext cx="104394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>
                    <a:alpha val="85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声明指标、维度、时间粒度、钻取层级。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752600" y="3509486"/>
            <a:ext cx="104394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个立方 / 88 指标 / 96 维度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3838575"/>
            <a:ext cx="10363200" cy="947737"/>
          </a:xfrm>
          <a:prstGeom prst="roundRect">
            <a:avLst>
              <a:gd name="adj" fmla="val 2010"/>
            </a:avLst>
          </a:prstGeom>
          <a:solidFill>
            <a:srgbClr val="EAF2FA"/>
          </a:solidFill>
          <a:ln/>
        </p:spPr>
      </p:sp>
      <p:sp>
        <p:nvSpPr>
          <p:cNvPr id="25" name="Shape 23"/>
          <p:cNvSpPr/>
          <p:nvPr/>
        </p:nvSpPr>
        <p:spPr>
          <a:xfrm>
            <a:off x="1171575" y="4131469"/>
            <a:ext cx="361950" cy="361950"/>
          </a:xfrm>
          <a:prstGeom prst="ellipse">
            <a:avLst/>
          </a:prstGeom>
          <a:noFill/>
          <a:ln w="14288">
            <a:solidFill>
              <a:srgbClr val="C9D6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247674"/>
            <a:ext cx="2705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847850" y="3996531"/>
            <a:ext cx="5953" cy="111125"/>
          </a:xfrm>
          <a:custGeom>
            <a:avLst/>
            <a:gdLst/>
            <a:ahLst/>
            <a:cxnLst/>
            <a:rect l="l" t="t" r="r" b="b"/>
            <a:pathLst>
              <a:path w="5953" h="111125">
                <a:moveTo>
                  <a:pt x="0" y="0"/>
                </a:moveTo>
                <a:lnTo>
                  <a:pt x="0" y="111125"/>
                </a:lnTo>
              </a:path>
            </a:pathLst>
          </a:custGeom>
          <a:noFill/>
          <a:ln w="15875">
            <a:solidFill>
              <a:srgbClr val="2E74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79600" y="4036219"/>
            <a:ext cx="15875" cy="5953"/>
          </a:xfrm>
          <a:custGeom>
            <a:avLst/>
            <a:gdLst/>
            <a:ahLst/>
            <a:cxnLst/>
            <a:rect l="l" t="t" r="r" b="b"/>
            <a:pathLst>
              <a:path w="15875" h="5953">
                <a:moveTo>
                  <a:pt x="0" y="0"/>
                </a:moveTo>
                <a:lnTo>
                  <a:pt x="15875" y="0"/>
                </a:lnTo>
              </a:path>
            </a:pathLst>
          </a:custGeom>
          <a:noFill/>
          <a:ln w="15875">
            <a:solidFill>
              <a:srgbClr val="2E74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79600" y="4004469"/>
            <a:ext cx="15875" cy="5953"/>
          </a:xfrm>
          <a:custGeom>
            <a:avLst/>
            <a:gdLst/>
            <a:ahLst/>
            <a:cxnLst/>
            <a:rect l="l" t="t" r="r" b="b"/>
            <a:pathLst>
              <a:path w="15875" h="5953">
                <a:moveTo>
                  <a:pt x="0" y="0"/>
                </a:moveTo>
                <a:lnTo>
                  <a:pt x="15875" y="0"/>
                </a:lnTo>
              </a:path>
            </a:pathLst>
          </a:custGeom>
          <a:noFill/>
          <a:ln w="15875">
            <a:solidFill>
              <a:srgbClr val="2E74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68475" y="3964781"/>
            <a:ext cx="158750" cy="142875"/>
          </a:xfrm>
          <a:custGeom>
            <a:avLst/>
            <a:gdLst/>
            <a:ahLst/>
            <a:cxnLst/>
            <a:rect l="l" t="t" r="r" b="b"/>
            <a:pathLst>
              <a:path w="158750" h="142875">
                <a:moveTo>
                  <a:pt x="7938" y="119063"/>
                </a:moveTo>
                <a:arcTo hR="7938" wR="7938" stAng="5400000" swAng="5400000"/>
                <a:lnTo>
                  <a:pt x="0" y="7938"/>
                </a:lnTo>
                <a:arcTo hR="7938" wR="7938" stAng="10800000" swAng="5400000"/>
                <a:lnTo>
                  <a:pt x="47625" y="0"/>
                </a:lnTo>
                <a:arcTo hR="31750" wR="31750" stAng="16200000" swAng="5400000"/>
                <a:arcTo hR="31750" wR="31750" stAng="10800000" swAng="5400000"/>
                <a:lnTo>
                  <a:pt x="150813" y="0"/>
                </a:lnTo>
                <a:arcTo hR="7938" wR="7938" stAng="16200000" swAng="5400000"/>
                <a:lnTo>
                  <a:pt x="158750" y="111125"/>
                </a:lnTo>
                <a:arcTo hR="7938" wR="7938" stAng="0" swAng="5400000"/>
                <a:lnTo>
                  <a:pt x="103188" y="119063"/>
                </a:lnTo>
                <a:arcTo hR="23813" wR="23813" stAng="16200000" swAng="-5400000"/>
                <a:arcTo hR="23813" wR="23813" stAng="0" swAng="-5400000"/>
                <a:close/>
              </a:path>
            </a:pathLst>
          </a:custGeom>
          <a:noFill/>
          <a:ln w="15875">
            <a:solidFill>
              <a:srgbClr val="2E74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00225" y="4036219"/>
            <a:ext cx="15875" cy="5953"/>
          </a:xfrm>
          <a:custGeom>
            <a:avLst/>
            <a:gdLst/>
            <a:ahLst/>
            <a:cxnLst/>
            <a:rect l="l" t="t" r="r" b="b"/>
            <a:pathLst>
              <a:path w="15875" h="5953">
                <a:moveTo>
                  <a:pt x="0" y="0"/>
                </a:moveTo>
                <a:lnTo>
                  <a:pt x="15875" y="0"/>
                </a:lnTo>
              </a:path>
            </a:pathLst>
          </a:custGeom>
          <a:noFill/>
          <a:ln w="15875">
            <a:solidFill>
              <a:srgbClr val="2E74B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00225" y="4004469"/>
            <a:ext cx="15875" cy="5953"/>
          </a:xfrm>
          <a:custGeom>
            <a:avLst/>
            <a:gdLst/>
            <a:ahLst/>
            <a:cxnLst/>
            <a:rect l="l" t="t" r="r" b="b"/>
            <a:pathLst>
              <a:path w="15875" h="5953">
                <a:moveTo>
                  <a:pt x="0" y="0"/>
                </a:moveTo>
                <a:lnTo>
                  <a:pt x="15875" y="0"/>
                </a:lnTo>
              </a:path>
            </a:pathLst>
          </a:custGeom>
          <a:noFill/>
          <a:ln w="15875">
            <a:solidFill>
              <a:srgbClr val="2E74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38350" y="3958114"/>
            <a:ext cx="101536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knowledge/ 写给 AI 的口径</a:t>
            </a:r>
            <a:endParaRPr lang="en-US" sz="1425" dirty="0"/>
          </a:p>
        </p:txBody>
      </p:sp>
      <p:sp>
        <p:nvSpPr>
          <p:cNvPr id="34" name="Text 32"/>
          <p:cNvSpPr/>
          <p:nvPr/>
        </p:nvSpPr>
        <p:spPr>
          <a:xfrm>
            <a:off x="1752600" y="4295299"/>
            <a:ext cx="104394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>
                    <a:alpha val="85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Markdown 写规则、术语、指标、陷阱、样例。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752600" y="4552474"/>
            <a:ext cx="104394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个目录 / 18 个文件 / 只认 .md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14400" y="4881563"/>
            <a:ext cx="10363200" cy="947737"/>
          </a:xfrm>
          <a:prstGeom prst="roundRect">
            <a:avLst>
              <a:gd name="adj" fmla="val 2010"/>
            </a:avLst>
          </a:prstGeom>
          <a:solidFill>
            <a:srgbClr val="EAF2FA"/>
          </a:solidFill>
          <a:ln/>
        </p:spPr>
      </p:sp>
      <p:sp>
        <p:nvSpPr>
          <p:cNvPr id="37" name="Shape 35"/>
          <p:cNvSpPr/>
          <p:nvPr/>
        </p:nvSpPr>
        <p:spPr>
          <a:xfrm>
            <a:off x="1171575" y="5174456"/>
            <a:ext cx="361950" cy="361950"/>
          </a:xfrm>
          <a:prstGeom prst="ellipse">
            <a:avLst/>
          </a:prstGeom>
          <a:noFill/>
          <a:ln w="14288">
            <a:solidFill>
              <a:srgbClr val="C9D6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0" y="5290661"/>
            <a:ext cx="2705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776413" y="4999831"/>
            <a:ext cx="142875" cy="47625"/>
          </a:xfrm>
          <a:prstGeom prst="ellipse">
            <a:avLst/>
          </a:prstGeom>
          <a:noFill/>
          <a:ln w="15875">
            <a:solidFill>
              <a:srgbClr val="2E74B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76413" y="5023644"/>
            <a:ext cx="142875" cy="134938"/>
          </a:xfrm>
          <a:custGeom>
            <a:avLst/>
            <a:gdLst/>
            <a:ahLst/>
            <a:cxnLst/>
            <a:rect l="l" t="t" r="r" b="b"/>
            <a:pathLst>
              <a:path w="142875" h="134938">
                <a:moveTo>
                  <a:pt x="0" y="0"/>
                </a:moveTo>
                <a:lnTo>
                  <a:pt x="0" y="111125"/>
                </a:lnTo>
                <a:arcTo hR="23813" wR="71438" stAng="10800000" swAng="-10800000"/>
                <a:lnTo>
                  <a:pt x="142875" y="0"/>
                </a:lnTo>
              </a:path>
            </a:pathLst>
          </a:custGeom>
          <a:noFill/>
          <a:ln w="15875">
            <a:solidFill>
              <a:srgbClr val="2E74B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76413" y="5079206"/>
            <a:ext cx="142875" cy="23813"/>
          </a:xfrm>
          <a:custGeom>
            <a:avLst/>
            <a:gdLst/>
            <a:ahLst/>
            <a:cxnLst/>
            <a:rect l="l" t="t" r="r" b="b"/>
            <a:pathLst>
              <a:path w="142875" h="23813">
                <a:moveTo>
                  <a:pt x="0" y="0"/>
                </a:moveTo>
                <a:arcTo hR="23813" wR="71438" stAng="10800000" swAng="-10800000"/>
              </a:path>
            </a:pathLst>
          </a:custGeom>
          <a:noFill/>
          <a:ln w="15875">
            <a:solidFill>
              <a:srgbClr val="2E74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38350" y="5001101"/>
            <a:ext cx="101536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models/ 自动生成勿手改</a:t>
            </a:r>
            <a:endParaRPr lang="en-US" sz="1425" dirty="0"/>
          </a:p>
        </p:txBody>
      </p:sp>
      <p:sp>
        <p:nvSpPr>
          <p:cNvPr id="43" name="Text 41"/>
          <p:cNvSpPr/>
          <p:nvPr/>
        </p:nvSpPr>
        <p:spPr>
          <a:xfrm>
            <a:off x="1752600" y="5338286"/>
            <a:ext cx="104394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>
                    <a:alpha val="85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由代码从表结构生成；只需看懂 hidden 与描述。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752600" y="5595461"/>
            <a:ext cx="104394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48 模型 / 852 列 / 14 列 hidden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14400" y="60579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日常改动 90% 落在 views / cubes / knowledge 这三层 —— 下面重点讲它们。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EEAF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514600"/>
            <a:ext cx="11049000" cy="4800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31500" dirty="0">
                <a:solidFill>
                  <a:srgbClr val="1F3864">
                    <a:alpha val="5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31500" dirty="0"/>
          </a:p>
        </p:txBody>
      </p:sp>
      <p:sp>
        <p:nvSpPr>
          <p:cNvPr id="4" name="Text 2"/>
          <p:cNvSpPr/>
          <p:nvPr/>
        </p:nvSpPr>
        <p:spPr>
          <a:xfrm>
            <a:off x="914400" y="2998470"/>
            <a:ext cx="112776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914400" y="3352800"/>
            <a:ext cx="914400" cy="19050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680460"/>
            <a:ext cx="11277600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三层编写（重点）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14400" y="443865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视图层、立方层、知识库，以及六个真实事故案例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901" name="Header Band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" name="Header Rule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02920" y="109728"/>
            <a:ext cx="100584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视图层：一个目录两个文件，五条硬限制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914525"/>
            <a:ext cx="10363200" cy="609600"/>
          </a:xfrm>
          <a:prstGeom prst="rect">
            <a:avLst/>
          </a:prstGeom>
          <a:solidFill>
            <a:srgbClr val="EAF2FA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154555"/>
            <a:ext cx="111252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L1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00200" y="2154555"/>
            <a:ext cx="10591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一个视图 = 一个目录 + 两个文件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05300" y="2154555"/>
            <a:ext cx="7886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metadata.yml：名字、方言、说明</a:t>
            </a:r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· </a:t>
            </a:r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sql.yml：statement，方便 diff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524125"/>
            <a:ext cx="10363200" cy="609600"/>
          </a:xfrm>
          <a:prstGeom prst="rect">
            <a:avLst/>
          </a:prstGeom>
          <a:solidFill>
            <a:srgbClr val="EAF2FA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2764155"/>
            <a:ext cx="111252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L2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00200" y="2764155"/>
            <a:ext cx="10591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固定粒度：一行一主体，不放大行数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05300" y="2764155"/>
            <a:ext cx="7886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v_story 24,898 行 / v_bug 60,873 行</a:t>
            </a:r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· </a:t>
            </a:r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多对多关系用 COUNT(DISTINCT) 预聚合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133725"/>
            <a:ext cx="10363200" cy="609600"/>
          </a:xfrm>
          <a:prstGeom prst="rect">
            <a:avLst/>
          </a:prstGeom>
          <a:solidFill>
            <a:srgbClr val="EAF2FA"/>
          </a:solidFill>
          <a:ln/>
        </p:spPr>
      </p:sp>
      <p:sp>
        <p:nvSpPr>
          <p:cNvPr id="13" name="Text 11"/>
          <p:cNvSpPr/>
          <p:nvPr/>
        </p:nvSpPr>
        <p:spPr>
          <a:xfrm>
            <a:off x="1066800" y="3373755"/>
            <a:ext cx="111252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L3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00200" y="3373755"/>
            <a:ext cx="10591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五条引擎硬限制（实测踩过）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05300" y="3373755"/>
            <a:ext cx="7886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非聚合列须进 GROUP BY 或用 MAX()</a:t>
            </a:r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· </a:t>
            </a:r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不支持 DATE()、GROUP_CONCAT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25241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1337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6021705"/>
            <a:ext cx="11277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两条设计底线：不放大行数；每张 JOIN 表 deleted = 0 写在 ON 里（写进 WHERE 会把 LEFT JOIN 退化成内连接）。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901" name="Header Band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" name="Header Rule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02920" y="109728"/>
            <a:ext cx="100584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案例三 · 时间陷阱：写死的日期与未来数据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073377" y="2044065"/>
            <a:ext cx="10118623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错误做法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186795" y="2044065"/>
            <a:ext cx="600520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正确做法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14400" y="2333625"/>
            <a:ext cx="1036320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7527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1718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5909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40100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4291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8700" y="24784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时间条件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73377" y="2478405"/>
            <a:ext cx="1011862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WHERE date </a:t>
            </a:r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&lt;</a:t>
            </a:r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 CURRENT_DATE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86795" y="2478405"/>
            <a:ext cx="600520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date BETWEEN 起 AND 止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28700" y="28975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窗口写法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73377" y="2897505"/>
            <a:ext cx="1011862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“最近 30 天”“截至当前”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86795" y="2897505"/>
            <a:ext cx="600520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先固定起止，再收口到当天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8700" y="33166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实测差异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73377" y="3316605"/>
            <a:ext cx="1011862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工时主表有报工日期到 2026-09-30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86795" y="3316605"/>
            <a:ext cx="600520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库当前日 09-12，未来段被排除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8700" y="37357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范围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73377" y="3735705"/>
            <a:ext cx="1011862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日期配置表预配到 2026-10-10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86795" y="3735705"/>
            <a:ext cx="600520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查工作日数要限定 date </a:t>
            </a:r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&lt;</a:t>
            </a:r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 CURRENT_DATE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28700" y="41548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教训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073377" y="4154805"/>
            <a:ext cx="1011862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以为数据边界等于系统当前日期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86795" y="4154805"/>
            <a:ext cx="600520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模糊时间窗口会静默混入未来数据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901" name="Header Band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" name="Header Rule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02920" y="109728"/>
            <a:ext cx="100584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案例四 · 软删陷阱：过滤写错了位置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2076450"/>
            <a:ext cx="10668000" cy="2362200"/>
          </a:xfrm>
          <a:prstGeom prst="roundRect">
            <a:avLst>
              <a:gd name="adj" fmla="val 2419"/>
            </a:avLst>
          </a:prstGeom>
          <a:solidFill>
            <a:srgbClr val="F2F4F7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240280"/>
            <a:ext cx="12001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699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76350" y="2240280"/>
            <a:ext cx="109156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-- 错：过滤写在 WHERE 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2449830"/>
            <a:ext cx="12001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699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76350" y="2449830"/>
            <a:ext cx="109156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FROM do_project 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2659380"/>
            <a:ext cx="12001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699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76350" y="2659380"/>
            <a:ext cx="109156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LEFT JOIN do_story s ON s.project_id = p.id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0" y="2868930"/>
            <a:ext cx="12001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699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76350" y="2868930"/>
            <a:ext cx="109156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WHERE p.deleted = 0 AND s.deleted = 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0" y="3078480"/>
            <a:ext cx="12001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699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76350" y="3078480"/>
            <a:ext cx="109156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0" y="3288030"/>
            <a:ext cx="12001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699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76350" y="3288030"/>
            <a:ext cx="109156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-- 对：过滤写在 ON 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0" y="3497580"/>
            <a:ext cx="12001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699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7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76350" y="3497580"/>
            <a:ext cx="109156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FROM do_project 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0" y="3707130"/>
            <a:ext cx="12001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699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76350" y="3707130"/>
            <a:ext cx="109156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LEFT JOIN do_story 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0" y="3916680"/>
            <a:ext cx="12001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699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9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76350" y="3916680"/>
            <a:ext cx="109156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  ON s.project_id = p.id AND s.deleted = 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0" y="4126230"/>
            <a:ext cx="12001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699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76350" y="4126230"/>
            <a:ext cx="109156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WHERE p.deleted = 0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901" name="Header Band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" name="Header Rule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02920" y="109728"/>
            <a:ext cx="100584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真实视图：过滤、映射、预聚合一次做完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38235" y="2044065"/>
            <a:ext cx="945376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v_workhour 过滤 + 派生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605203" y="2044065"/>
            <a:ext cx="558679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v_story 映射 + 预聚合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14400" y="2333625"/>
            <a:ext cx="1036320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7527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1718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5909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40100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4291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8700" y="24784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建视图理由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38235" y="2478405"/>
            <a:ext cx="945376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源表 357 万行，96% 软删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05203" y="2478405"/>
            <a:ext cx="558679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需求与项目多对多，会放大行数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28700" y="28975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过滤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38235" y="2897505"/>
            <a:ext cx="945376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WHERE deleted = 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05203" y="2897505"/>
            <a:ext cx="558679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WHERE s.deleted = 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8700" y="33166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派生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38235" y="3316605"/>
            <a:ext cx="945376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派生月份与一级部门列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05203" y="3316605"/>
            <a:ext cx="558679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CASE 映射中文名，兜底未设置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8700" y="37357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原始码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38235" y="3735705"/>
            <a:ext cx="945376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维度直接可分析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05203" y="3735705"/>
            <a:ext cx="558679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码用于过滤，名用于展示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28700" y="41548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预聚合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38235" y="4154805"/>
            <a:ext cx="945376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不需要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05203" y="4154805"/>
            <a:ext cx="558679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COUNT(DISTINCT) 预聚合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901" name="Header Band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" name="Header Rule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02920" y="109728"/>
            <a:ext cx="100584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立方层：结构化聚合 API，不是另一种表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28700" y="2044065"/>
            <a:ext cx="111633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立方体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505425" y="2044065"/>
            <a:ext cx="868657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绑定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97711" y="2044065"/>
            <a:ext cx="719428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回答什么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4400" y="2333625"/>
            <a:ext cx="5922264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752725"/>
            <a:ext cx="5922264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171825"/>
            <a:ext cx="5922264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590925"/>
            <a:ext cx="5922264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010025"/>
            <a:ext cx="5922264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429125"/>
            <a:ext cx="5922264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848225"/>
            <a:ext cx="5922264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8700" y="24784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story_delivery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05425" y="2478405"/>
            <a:ext cx="868657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v_story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97711" y="2478405"/>
            <a:ext cx="719428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需求交付与及时性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28700" y="28975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bug_quality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05425" y="2897505"/>
            <a:ext cx="868657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v_bug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97711" y="2897505"/>
            <a:ext cx="719428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缺陷解决率与周期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28700" y="33166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workhour_analysis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05425" y="3316605"/>
            <a:ext cx="868657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v_workhour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97711" y="3316605"/>
            <a:ext cx="719428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工时投入与分布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8700" y="37357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iteration_burndown_cube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05425" y="3735705"/>
            <a:ext cx="868657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v_iteration_…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97711" y="3735705"/>
            <a:ext cx="719428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迭代进度（数量口径）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28700" y="41548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task_timeliness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505425" y="4154805"/>
            <a:ext cx="868657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do_task_report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97711" y="4154805"/>
            <a:ext cx="719428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提交→解决时效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28700" y="45739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project_portfolio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505425" y="4573905"/>
            <a:ext cx="868657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v_project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97711" y="4573905"/>
            <a:ext cx="719428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项目组合与成员规模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89064" y="1914525"/>
            <a:ext cx="4288536" cy="1600200"/>
          </a:xfrm>
          <a:prstGeom prst="roundRect">
            <a:avLst>
              <a:gd name="adj" fmla="val 1190"/>
            </a:avLst>
          </a:prstGeom>
          <a:solidFill>
            <a:srgbClr val="E3EAF2"/>
          </a:solidFill>
          <a:ln/>
        </p:spPr>
      </p:sp>
      <p:sp>
        <p:nvSpPr>
          <p:cNvPr id="33" name="Shape 31"/>
          <p:cNvSpPr/>
          <p:nvPr/>
        </p:nvSpPr>
        <p:spPr>
          <a:xfrm>
            <a:off x="7196869" y="2140622"/>
            <a:ext cx="174764" cy="157285"/>
          </a:xfrm>
          <a:custGeom>
            <a:avLst/>
            <a:gdLst/>
            <a:ahLst/>
            <a:cxnLst/>
            <a:rect l="l" t="t" r="r" b="b"/>
            <a:pathLst>
              <a:path w="174764" h="157285">
                <a:moveTo>
                  <a:pt x="172425" y="131090"/>
                </a:moveTo>
                <a:lnTo>
                  <a:pt x="102575" y="8853"/>
                </a:lnTo>
                <a:arcTo hR="17463" wR="17463" stAng="19827518" swAng="-7255037"/>
                <a:lnTo>
                  <a:pt x="2340" y="131090"/>
                </a:lnTo>
                <a:arcTo hR="17463" wR="17463" stAng="12600161" swAng="-7231094"/>
                <a:lnTo>
                  <a:pt x="157320" y="157284"/>
                </a:lnTo>
                <a:arcTo hR="17463" wR="17463" stAng="5396476" swAng="-7196478"/>
              </a:path>
            </a:pathLst>
          </a:custGeom>
          <a:noFill/>
          <a:ln w="17463">
            <a:solidFill>
              <a:srgbClr val="C55A1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84339" y="2193131"/>
            <a:ext cx="6548" cy="34925"/>
          </a:xfrm>
          <a:custGeom>
            <a:avLst/>
            <a:gdLst/>
            <a:ahLst/>
            <a:cxnLst/>
            <a:rect l="l" t="t" r="r" b="b"/>
            <a:pathLst>
              <a:path w="6548" h="34925">
                <a:moveTo>
                  <a:pt x="0" y="0"/>
                </a:moveTo>
                <a:lnTo>
                  <a:pt x="0" y="34925"/>
                </a:lnTo>
              </a:path>
            </a:pathLst>
          </a:custGeom>
          <a:noFill/>
          <a:ln w="17463">
            <a:solidFill>
              <a:srgbClr val="C55A1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84339" y="2262981"/>
            <a:ext cx="6548" cy="6548"/>
          </a:xfrm>
          <a:custGeom>
            <a:avLst/>
            <a:gdLst/>
            <a:ahLst/>
            <a:cxnLst/>
            <a:rect l="l" t="t" r="r" b="b"/>
            <a:pathLst>
              <a:path w="6548" h="6548">
                <a:moveTo>
                  <a:pt x="0" y="0"/>
                </a:moveTo>
                <a:lnTo>
                  <a:pt x="87" y="0"/>
                </a:lnTo>
              </a:path>
            </a:pathLst>
          </a:custGeom>
          <a:noFill/>
          <a:ln w="17463">
            <a:solidFill>
              <a:srgbClr val="C55A1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22464" y="2112645"/>
            <a:ext cx="466953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指标还在争论中、一次性探索、没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522464" y="2436495"/>
            <a:ext cx="466953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有明确粒度 ——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522464" y="2760345"/>
            <a:ext cx="466953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都不该建立方体，先写进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522464" y="3084195"/>
            <a:ext cx="466953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knowledge/rules。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14400" y="60579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立方体收敛 Agent 手写分析 SQL 的四种失败：JOIN 猜错、粒度错导致重复计数、时间粒度含混、指标定义自创。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901" name="Header Band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" name="Header Rule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02920" y="109728"/>
            <a:ext cx="100584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立方体的四件套与三条写法约定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71550" y="3323082"/>
            <a:ext cx="914400" cy="914400"/>
          </a:xfrm>
          <a:prstGeom prst="ellipse">
            <a:avLst/>
          </a:prstGeom>
          <a:solidFill>
            <a:srgbClr val="BDD7EE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3648608"/>
            <a:ext cx="2857500" cy="351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304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2304" dirty="0"/>
          </a:p>
        </p:txBody>
      </p:sp>
      <p:sp>
        <p:nvSpPr>
          <p:cNvPr id="6" name="Shape 4"/>
          <p:cNvSpPr/>
          <p:nvPr/>
        </p:nvSpPr>
        <p:spPr>
          <a:xfrm>
            <a:off x="2114550" y="1903857"/>
            <a:ext cx="9105900" cy="838200"/>
          </a:xfrm>
          <a:prstGeom prst="roundRect">
            <a:avLst>
              <a:gd name="adj" fmla="val 2273"/>
            </a:avLst>
          </a:prstGeom>
          <a:solidFill>
            <a:srgbClr val="EAF2FA"/>
          </a:solidFill>
          <a:ln w="9525">
            <a:solidFill>
              <a:srgbClr val="D6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8370" y="1987677"/>
            <a:ext cx="670560" cy="67056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2228660"/>
            <a:ext cx="50673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3002280" y="2075307"/>
            <a:ext cx="9189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base_object 只能绑一个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02280" y="2378202"/>
            <a:ext cx="91897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指向一个模型或视图；立方体里不能写 JOIN，关联都在视图里做完。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0" y="2254377"/>
            <a:ext cx="11087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写错报未定义错误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14550" y="2875407"/>
            <a:ext cx="9105900" cy="838200"/>
          </a:xfrm>
          <a:prstGeom prst="roundRect">
            <a:avLst>
              <a:gd name="adj" fmla="val 2273"/>
            </a:avLst>
          </a:prstGeom>
          <a:solidFill>
            <a:srgbClr val="EAF2FA"/>
          </a:solidFill>
          <a:ln w="9525">
            <a:solidFill>
              <a:srgbClr val="D6E4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98370" y="2959227"/>
            <a:ext cx="670560" cy="67056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3200210"/>
            <a:ext cx="50673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002280" y="3046857"/>
            <a:ext cx="9189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measures 必填，至少一个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02280" y="3349752"/>
            <a:ext cx="91897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聚合表达式；计数用 BIGINT，比率与均值用 DOUBLE。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0" y="3225927"/>
            <a:ext cx="11087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为空会告警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114550" y="3846957"/>
            <a:ext cx="9105900" cy="838200"/>
          </a:xfrm>
          <a:prstGeom prst="roundRect">
            <a:avLst>
              <a:gd name="adj" fmla="val 2273"/>
            </a:avLst>
          </a:prstGeom>
          <a:solidFill>
            <a:srgbClr val="EAF2FA"/>
          </a:solidFill>
          <a:ln w="9525">
            <a:solidFill>
              <a:srgbClr val="D6E4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98370" y="3930777"/>
            <a:ext cx="670560" cy="67056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4171760"/>
            <a:ext cx="50673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3002280" y="4018407"/>
            <a:ext cx="9189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dimensions 与 time_dimensions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002280" y="4321302"/>
            <a:ext cx="91897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维度用 string / int；时间维度用 date，levels 定下钻粒度。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0" y="4197477"/>
            <a:ext cx="11087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粒度全库统一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114550" y="4818507"/>
            <a:ext cx="9105900" cy="838200"/>
          </a:xfrm>
          <a:prstGeom prst="roundRect">
            <a:avLst>
              <a:gd name="adj" fmla="val 2273"/>
            </a:avLst>
          </a:prstGeom>
          <a:solidFill>
            <a:srgbClr val="EAF2FA"/>
          </a:solidFill>
          <a:ln w="9525">
            <a:solidFill>
              <a:srgbClr val="D6E4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8370" y="4902327"/>
            <a:ext cx="670560" cy="67056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6" name="Text 24"/>
          <p:cNvSpPr/>
          <p:nvPr/>
        </p:nvSpPr>
        <p:spPr>
          <a:xfrm>
            <a:off x="0" y="5143310"/>
            <a:ext cx="50673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3002280" y="4989957"/>
            <a:ext cx="9189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hierarchies 钻取路径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002280" y="5292852"/>
            <a:ext cx="91897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层级名 → 已声明维度列表，如项目集 → 项目 → 模块。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0" y="5169027"/>
            <a:ext cx="11087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引用前先声明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6021705"/>
            <a:ext cx="11277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三条写法约定：除法一律 NULLIF(分母, 0)；条件计数用 SUM(CASE WHEN 条件 THEN 1 ELSE 0 END)；比率必须写清分母与排除了什么。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901" name="Header Band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" name="Header Rule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02920" y="109728"/>
            <a:ext cx="100584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案例五 · 口径陷阱：先看分布，再选口径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138845" y="2044065"/>
            <a:ext cx="1005315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错误做法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506394" y="2044065"/>
            <a:ext cx="4685606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正确做法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14400" y="2333625"/>
            <a:ext cx="1036320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7527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1718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5909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40100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4291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8700" y="24784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选口径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38845" y="2478405"/>
            <a:ext cx="1005315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用工作量字段算燃尽进度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06394" y="2478405"/>
            <a:ext cx="468560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改用需求数量（*_count）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28700" y="28975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数据现实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38845" y="2897505"/>
            <a:ext cx="1005315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工作量列 76% 为 0，阶段列 85% 为 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06394" y="2897505"/>
            <a:ext cx="468560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数量列覆盖率正常，可直接聚合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8700" y="33166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38845" y="3316605"/>
            <a:ext cx="1005315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某日 12 个迭代合计工作量仅 7.0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06394" y="3316605"/>
            <a:ext cx="468560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同一天需求数合计 300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8700" y="37357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最新进度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38845" y="3735705"/>
            <a:ext cx="1005315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取全局 MAX(statistic_date) 当最新进度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506394" y="3735705"/>
            <a:ext cx="468560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用收官快照与最新快照日标记列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28700" y="41548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教训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138845" y="4154805"/>
            <a:ext cx="1005315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凭字段名假设口径可用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06394" y="4154805"/>
            <a:ext cx="468560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先看数据分布，再决定口径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901" name="Header Band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" name="Header Rule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02920" y="109728"/>
            <a:ext cx="100584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知识库：五个目录，只认 Markdown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28700" y="2044065"/>
            <a:ext cx="111633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089658" y="2044065"/>
            <a:ext cx="910234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写什么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53550" y="2044065"/>
            <a:ext cx="47384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本库实例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4400" y="2333625"/>
            <a:ext cx="1036320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7527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1718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5909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0100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4291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8700" y="24784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rules/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89658" y="2478405"/>
            <a:ext cx="910234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强制口径与默认过滤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53550" y="2478405"/>
            <a:ext cx="47384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个文件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28700" y="28975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glossary/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89658" y="2897505"/>
            <a:ext cx="910234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术语与枚举字典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53550" y="2897505"/>
            <a:ext cx="47384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28KB，枚举唯一真源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8700" y="33166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metrics/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89658" y="3316605"/>
            <a:ext cx="910234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指标定义与公式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53550" y="3316605"/>
            <a:ext cx="47384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18KB，38 个指标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8700" y="37357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caveats/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89658" y="3735705"/>
            <a:ext cx="910234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陷阱与实测数字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53550" y="3735705"/>
            <a:ext cx="47384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18KB，30+ 条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28700" y="41548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sql/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89658" y="4154805"/>
            <a:ext cx="910234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已验证的 NL→SQL 样例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53550" y="4154805"/>
            <a:ext cx="47384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条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" y="4672013"/>
            <a:ext cx="10363200" cy="628650"/>
          </a:xfrm>
          <a:prstGeom prst="roundRect">
            <a:avLst>
              <a:gd name="adj" fmla="val 3030"/>
            </a:avLst>
          </a:prstGeom>
          <a:solidFill>
            <a:srgbClr val="E3EAF2"/>
          </a:solidFill>
          <a:ln/>
        </p:spPr>
      </p:sp>
      <p:sp>
        <p:nvSpPr>
          <p:cNvPr id="29" name="Shape 27"/>
          <p:cNvSpPr/>
          <p:nvPr/>
        </p:nvSpPr>
        <p:spPr>
          <a:xfrm>
            <a:off x="1122205" y="4898110"/>
            <a:ext cx="174764" cy="157285"/>
          </a:xfrm>
          <a:custGeom>
            <a:avLst/>
            <a:gdLst/>
            <a:ahLst/>
            <a:cxnLst/>
            <a:rect l="l" t="t" r="r" b="b"/>
            <a:pathLst>
              <a:path w="174764" h="157285">
                <a:moveTo>
                  <a:pt x="172425" y="131090"/>
                </a:moveTo>
                <a:lnTo>
                  <a:pt x="102575" y="8853"/>
                </a:lnTo>
                <a:arcTo hR="17463" wR="17463" stAng="19827518" swAng="-7255037"/>
                <a:lnTo>
                  <a:pt x="2340" y="131090"/>
                </a:lnTo>
                <a:arcTo hR="17463" wR="17463" stAng="12600161" swAng="-7231094"/>
                <a:lnTo>
                  <a:pt x="157320" y="157284"/>
                </a:lnTo>
                <a:arcTo hR="17463" wR="17463" stAng="5396476" swAng="-7196478"/>
              </a:path>
            </a:pathLst>
          </a:custGeom>
          <a:noFill/>
          <a:ln w="17463">
            <a:solidFill>
              <a:srgbClr val="C55A1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09675" y="4950619"/>
            <a:ext cx="6548" cy="34925"/>
          </a:xfrm>
          <a:custGeom>
            <a:avLst/>
            <a:gdLst/>
            <a:ahLst/>
            <a:cxnLst/>
            <a:rect l="l" t="t" r="r" b="b"/>
            <a:pathLst>
              <a:path w="6548" h="34925">
                <a:moveTo>
                  <a:pt x="0" y="0"/>
                </a:moveTo>
                <a:lnTo>
                  <a:pt x="0" y="34925"/>
                </a:lnTo>
              </a:path>
            </a:pathLst>
          </a:custGeom>
          <a:noFill/>
          <a:ln w="17463">
            <a:solidFill>
              <a:srgbClr val="C55A1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09675" y="5020469"/>
            <a:ext cx="6548" cy="6548"/>
          </a:xfrm>
          <a:custGeom>
            <a:avLst/>
            <a:gdLst/>
            <a:ahLst/>
            <a:cxnLst/>
            <a:rect l="l" t="t" r="r" b="b"/>
            <a:pathLst>
              <a:path w="6548" h="6548">
                <a:moveTo>
                  <a:pt x="0" y="0"/>
                </a:moveTo>
                <a:lnTo>
                  <a:pt x="87" y="0"/>
                </a:lnTo>
              </a:path>
            </a:pathLst>
          </a:custGeom>
          <a:noFill/>
          <a:ln w="17463">
            <a:solidFill>
              <a:srgbClr val="C55A1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47800" y="4870133"/>
            <a:ext cx="10744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只认 .md 文件；写成 .yml 或放到别的目录等于没写，后端只读这五个目录。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14400" y="6021705"/>
            <a:ext cx="11277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knowledge/sql/*.md 是唯一带 front-matter 的知识文件：nl（用户怎么问）+ sql（已验证语句）必填。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901" name="Header Band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" name="Header Rule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02920" y="109728"/>
            <a:ext cx="100584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规则怎么写：错误写法也要写进去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2076450"/>
            <a:ext cx="10668000" cy="1943100"/>
          </a:xfrm>
          <a:prstGeom prst="roundRect">
            <a:avLst>
              <a:gd name="adj" fmla="val 2941"/>
            </a:avLst>
          </a:prstGeom>
          <a:solidFill>
            <a:srgbClr val="F2F4F7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240280"/>
            <a:ext cx="12001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699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76350" y="2240280"/>
            <a:ext cx="109156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## 员工在职口径（强制）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2449830"/>
            <a:ext cx="12001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699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76350" y="2449830"/>
            <a:ext cx="109156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2659380"/>
            <a:ext cx="12001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699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76350" y="2659380"/>
            <a:ext cx="109156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- 正确：deleted = 0 → 实测 191 人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0" y="2868930"/>
            <a:ext cx="12001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699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76350" y="2868930"/>
            <a:ext cx="109156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- 错误：COUNT(*) → 1141（含历史快照）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0" y="3078480"/>
            <a:ext cx="12001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699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76350" y="3078480"/>
            <a:ext cx="109156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- 错误：COUNT(DISTINCT user_id) → 309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0" y="3288030"/>
            <a:ext cx="12001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699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76350" y="3288030"/>
            <a:ext cx="109156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- 错误：do_work_hour 去重人数 → 325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0" y="3497580"/>
            <a:ext cx="12001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699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7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76350" y="3497580"/>
            <a:ext cx="109156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- 实测规模：191 人（2026-09-19）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0" y="3707130"/>
            <a:ext cx="12001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699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76350" y="3707130"/>
            <a:ext cx="109156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- 适用范围：在职/应报工/未报工口径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EEAF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514600"/>
            <a:ext cx="11049000" cy="4800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31500" dirty="0">
                <a:solidFill>
                  <a:srgbClr val="1F3864">
                    <a:alpha val="5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31500" dirty="0"/>
          </a:p>
        </p:txBody>
      </p:sp>
      <p:sp>
        <p:nvSpPr>
          <p:cNvPr id="4" name="Text 2"/>
          <p:cNvSpPr/>
          <p:nvPr/>
        </p:nvSpPr>
        <p:spPr>
          <a:xfrm>
            <a:off x="914400" y="2998470"/>
            <a:ext cx="112776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第四章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914400" y="3352800"/>
            <a:ext cx="914400" cy="19050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680460"/>
            <a:ext cx="11277600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验证、治理与上机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14400" y="443865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验证方法、性能事故复盘与治理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901" name="Header Band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" name="Header Rule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02920" y="109728"/>
            <a:ext cx="100584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改完必须跑完这五步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6250"/>
            </a:avLst>
          </a:prstGeom>
          <a:solidFill>
            <a:srgbClr val="BDD7EE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992505"/>
            <a:ext cx="24384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914525"/>
            <a:ext cx="1920240" cy="952500"/>
          </a:xfrm>
          <a:custGeom>
            <a:avLst/>
            <a:gdLst/>
            <a:ahLst/>
            <a:cxnLst/>
            <a:rect l="l" t="t" r="r" b="b"/>
            <a:pathLst>
              <a:path w="1920240" h="952500">
                <a:moveTo>
                  <a:pt x="0" y="209550"/>
                </a:moveTo>
                <a:lnTo>
                  <a:pt x="1386840" y="209550"/>
                </a:lnTo>
                <a:lnTo>
                  <a:pt x="1386840" y="0"/>
                </a:lnTo>
                <a:lnTo>
                  <a:pt x="1920240" y="476250"/>
                </a:lnTo>
                <a:lnTo>
                  <a:pt x="1386840" y="952500"/>
                </a:lnTo>
                <a:lnTo>
                  <a:pt x="1386840" y="742950"/>
                </a:lnTo>
                <a:lnTo>
                  <a:pt x="0" y="742950"/>
                </a:lnTo>
                <a:close/>
              </a:path>
            </a:pathLst>
          </a:custGeom>
          <a:solidFill>
            <a:srgbClr val="BDD7EE"/>
          </a:solidFill>
          <a:ln/>
        </p:spPr>
      </p:sp>
      <p:sp>
        <p:nvSpPr>
          <p:cNvPr id="7" name="Shape 5"/>
          <p:cNvSpPr/>
          <p:nvPr/>
        </p:nvSpPr>
        <p:spPr>
          <a:xfrm>
            <a:off x="1066800" y="2181225"/>
            <a:ext cx="419100" cy="419100"/>
          </a:xfrm>
          <a:prstGeom prst="ellipse">
            <a:avLst/>
          </a:prstGeom>
          <a:solidFill>
            <a:srgbClr val="F7F9FC"/>
          </a:solidFill>
          <a:ln w="23813">
            <a:solidFill>
              <a:srgbClr val="BD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2335530"/>
            <a:ext cx="2552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81150" y="2295525"/>
            <a:ext cx="106108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validate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088005"/>
            <a:ext cx="11277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结构校验：模型与视图计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297555"/>
            <a:ext cx="11277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数、引用是否成立。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25140" y="1914525"/>
            <a:ext cx="1920240" cy="952500"/>
          </a:xfrm>
          <a:custGeom>
            <a:avLst/>
            <a:gdLst/>
            <a:ahLst/>
            <a:cxnLst/>
            <a:rect l="l" t="t" r="r" b="b"/>
            <a:pathLst>
              <a:path w="1920240" h="952500">
                <a:moveTo>
                  <a:pt x="0" y="209550"/>
                </a:moveTo>
                <a:lnTo>
                  <a:pt x="1386840" y="209550"/>
                </a:lnTo>
                <a:lnTo>
                  <a:pt x="1386840" y="0"/>
                </a:lnTo>
                <a:lnTo>
                  <a:pt x="1920240" y="476250"/>
                </a:lnTo>
                <a:lnTo>
                  <a:pt x="1386840" y="952500"/>
                </a:lnTo>
                <a:lnTo>
                  <a:pt x="1386840" y="742950"/>
                </a:lnTo>
                <a:lnTo>
                  <a:pt x="0" y="742950"/>
                </a:lnTo>
                <a:close/>
              </a:path>
            </a:pathLst>
          </a:custGeom>
          <a:solidFill>
            <a:srgbClr val="BDD7EE"/>
          </a:solidFill>
          <a:ln/>
        </p:spPr>
      </p:sp>
      <p:sp>
        <p:nvSpPr>
          <p:cNvPr id="13" name="Shape 11"/>
          <p:cNvSpPr/>
          <p:nvPr/>
        </p:nvSpPr>
        <p:spPr>
          <a:xfrm>
            <a:off x="3177540" y="2181225"/>
            <a:ext cx="419100" cy="419100"/>
          </a:xfrm>
          <a:prstGeom prst="ellipse">
            <a:avLst/>
          </a:prstGeom>
          <a:solidFill>
            <a:srgbClr val="F7F9FC"/>
          </a:solidFill>
          <a:ln w="23813">
            <a:solidFill>
              <a:srgbClr val="BDD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2335530"/>
            <a:ext cx="67741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91890" y="2295525"/>
            <a:ext cx="8500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build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25140" y="3088005"/>
            <a:ext cx="91668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编译成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25140" y="3297555"/>
            <a:ext cx="91668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target/mdl.json，引擎真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25140" y="3507105"/>
            <a:ext cx="91668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正读取的文件。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35880" y="1914525"/>
            <a:ext cx="1920240" cy="952500"/>
          </a:xfrm>
          <a:custGeom>
            <a:avLst/>
            <a:gdLst/>
            <a:ahLst/>
            <a:cxnLst/>
            <a:rect l="l" t="t" r="r" b="b"/>
            <a:pathLst>
              <a:path w="1920240" h="952500">
                <a:moveTo>
                  <a:pt x="0" y="209550"/>
                </a:moveTo>
                <a:lnTo>
                  <a:pt x="1386840" y="209550"/>
                </a:lnTo>
                <a:lnTo>
                  <a:pt x="1386840" y="0"/>
                </a:lnTo>
                <a:lnTo>
                  <a:pt x="1920240" y="476250"/>
                </a:lnTo>
                <a:lnTo>
                  <a:pt x="1386840" y="952500"/>
                </a:lnTo>
                <a:lnTo>
                  <a:pt x="1386840" y="742950"/>
                </a:lnTo>
                <a:lnTo>
                  <a:pt x="0" y="742950"/>
                </a:lnTo>
                <a:close/>
              </a:path>
            </a:pathLst>
          </a:custGeom>
          <a:solidFill>
            <a:srgbClr val="BDD7EE"/>
          </a:solidFill>
          <a:ln/>
        </p:spPr>
      </p:sp>
      <p:sp>
        <p:nvSpPr>
          <p:cNvPr id="20" name="Shape 18"/>
          <p:cNvSpPr/>
          <p:nvPr/>
        </p:nvSpPr>
        <p:spPr>
          <a:xfrm>
            <a:off x="5288280" y="2181225"/>
            <a:ext cx="419100" cy="419100"/>
          </a:xfrm>
          <a:prstGeom prst="ellipse">
            <a:avLst/>
          </a:prstGeom>
          <a:solidFill>
            <a:srgbClr val="F7F9FC"/>
          </a:solidFill>
          <a:ln w="23813">
            <a:solidFill>
              <a:srgbClr val="BDD7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2335530"/>
            <a:ext cx="109956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02630" y="2295525"/>
            <a:ext cx="638937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cube list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135880" y="3088005"/>
            <a:ext cx="70561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确认新立方体已登记，改名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35880" y="3297555"/>
            <a:ext cx="70561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删除的应消失。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246620" y="1914525"/>
            <a:ext cx="1920240" cy="952500"/>
          </a:xfrm>
          <a:custGeom>
            <a:avLst/>
            <a:gdLst/>
            <a:ahLst/>
            <a:cxnLst/>
            <a:rect l="l" t="t" r="r" b="b"/>
            <a:pathLst>
              <a:path w="1920240" h="952500">
                <a:moveTo>
                  <a:pt x="0" y="209550"/>
                </a:moveTo>
                <a:lnTo>
                  <a:pt x="1386840" y="209550"/>
                </a:lnTo>
                <a:lnTo>
                  <a:pt x="1386840" y="0"/>
                </a:lnTo>
                <a:lnTo>
                  <a:pt x="1920240" y="476250"/>
                </a:lnTo>
                <a:lnTo>
                  <a:pt x="1386840" y="952500"/>
                </a:lnTo>
                <a:lnTo>
                  <a:pt x="1386840" y="742950"/>
                </a:lnTo>
                <a:lnTo>
                  <a:pt x="0" y="742950"/>
                </a:lnTo>
                <a:close/>
              </a:path>
            </a:pathLst>
          </a:custGeom>
          <a:solidFill>
            <a:srgbClr val="BDD7EE"/>
          </a:solidFill>
          <a:ln/>
        </p:spPr>
      </p:sp>
      <p:sp>
        <p:nvSpPr>
          <p:cNvPr id="26" name="Shape 24"/>
          <p:cNvSpPr/>
          <p:nvPr/>
        </p:nvSpPr>
        <p:spPr>
          <a:xfrm>
            <a:off x="7399020" y="2181225"/>
            <a:ext cx="419100" cy="419100"/>
          </a:xfrm>
          <a:prstGeom prst="ellipse">
            <a:avLst/>
          </a:prstGeom>
          <a:solidFill>
            <a:srgbClr val="F7F9FC"/>
          </a:solidFill>
          <a:ln w="23813">
            <a:solidFill>
              <a:srgbClr val="BDD7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25140" y="2335530"/>
            <a:ext cx="91668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913370" y="2295525"/>
            <a:ext cx="427863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sql-only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246620" y="3088005"/>
            <a:ext cx="49453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不连库，只看 SQL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246620" y="3297555"/>
            <a:ext cx="49453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的粒度、过滤、区间。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357360" y="1914525"/>
            <a:ext cx="1920240" cy="952500"/>
          </a:xfrm>
          <a:custGeom>
            <a:avLst/>
            <a:gdLst/>
            <a:ahLst/>
            <a:cxnLst/>
            <a:rect l="l" t="t" r="r" b="b"/>
            <a:pathLst>
              <a:path w="1920240" h="952500">
                <a:moveTo>
                  <a:pt x="0" y="209550"/>
                </a:moveTo>
                <a:lnTo>
                  <a:pt x="1386840" y="209550"/>
                </a:lnTo>
                <a:lnTo>
                  <a:pt x="1386840" y="0"/>
                </a:lnTo>
                <a:lnTo>
                  <a:pt x="1920240" y="476250"/>
                </a:lnTo>
                <a:lnTo>
                  <a:pt x="1386840" y="952500"/>
                </a:lnTo>
                <a:lnTo>
                  <a:pt x="1386840" y="742950"/>
                </a:lnTo>
                <a:lnTo>
                  <a:pt x="0" y="742950"/>
                </a:lnTo>
                <a:close/>
              </a:path>
            </a:pathLst>
          </a:custGeom>
          <a:solidFill>
            <a:srgbClr val="BDD7EE"/>
          </a:solidFill>
          <a:ln/>
        </p:spPr>
      </p:sp>
      <p:sp>
        <p:nvSpPr>
          <p:cNvPr id="32" name="Shape 30"/>
          <p:cNvSpPr/>
          <p:nvPr/>
        </p:nvSpPr>
        <p:spPr>
          <a:xfrm>
            <a:off x="9509760" y="2181225"/>
            <a:ext cx="419100" cy="419100"/>
          </a:xfrm>
          <a:prstGeom prst="ellipse">
            <a:avLst/>
          </a:prstGeom>
          <a:solidFill>
            <a:srgbClr val="F7F9FC"/>
          </a:solidFill>
          <a:ln w="23813">
            <a:solidFill>
              <a:srgbClr val="BDD7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46620" y="2335530"/>
            <a:ext cx="49453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024110" y="2295525"/>
            <a:ext cx="216789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真跑 + 复核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357360" y="3088005"/>
            <a:ext cx="283464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跑真实数据核对数值，再直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357360" y="3297555"/>
            <a:ext cx="283464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查视图交叉验证。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14400" y="6021705"/>
            <a:ext cx="11277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关键提醒：validate 通过 ≠ 视图能规划，多数限制在 build 之后的规划期才暴露，所以后两步不能跳。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901" name="Header Band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" name="Header Rule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02920" y="109728"/>
            <a:ext cx="100584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对数三问，以及一次差 6 倍的教训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54623" y="2044065"/>
            <a:ext cx="963737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对数三问（每个指标都要问）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740013" y="2044065"/>
            <a:ext cx="545198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两条实测教训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14400" y="2333625"/>
            <a:ext cx="1036320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7527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1718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5909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8700" y="24784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分母是什么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54623" y="2478405"/>
            <a:ext cx="963737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排除哪些状态？如完成率要排除已取消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40013" y="2478405"/>
            <a:ext cx="545198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在职：视图查 190，源表查 1141，差 6 倍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8700" y="28975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时间窗口怎么取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54623" y="2897505"/>
            <a:ext cx="963737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闭区间还是半开？工时表含未来预填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40013" y="2897505"/>
            <a:ext cx="545198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立方体区间左闭右开；写 08-31 少算 1400 小时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28700" y="33166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行数会被放大吗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54623" y="3316605"/>
            <a:ext cx="963737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 COUNT(DISTINCT) 或预聚合固定粒度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40013" y="3316605"/>
            <a:ext cx="545198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数字必须带日期——数据是活的，结果会漂移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901" name="Header Band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" name="Header Rule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02920" y="109728"/>
            <a:ext cx="1005840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案例六 · 性能陷阱：COUNT(DISTINCT)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1005840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救不了笛卡尔积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425671" y="2472690"/>
            <a:ext cx="976632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错误做法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14490" y="2472690"/>
            <a:ext cx="537751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正确做法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4400" y="2762250"/>
            <a:ext cx="1036320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181350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600450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4019550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438650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857750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8700" y="2907030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写法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5671" y="2907030"/>
            <a:ext cx="976632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项目表同时 LEFT JOIN 需求表与缺陷表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14490" y="2907030"/>
            <a:ext cx="537751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需求、缺陷各自 GROUP BY 项目后再 JOIN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28700" y="3326130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实测耗时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5671" y="3326130"/>
            <a:ext cx="976632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60.5 秒 → 超时失败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14490" y="3326130"/>
            <a:ext cx="537751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0.09 秒 → 快 600 倍以上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8700" y="3745230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为何去重无效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5671" y="3745230"/>
            <a:ext cx="976632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COUNT(DISTINCT) 发生在笛卡尔积之后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14490" y="3745230"/>
            <a:ext cx="537751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每张表先压到同一粒度，中间结果很小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8700" y="4164330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判定规则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5671" y="4164330"/>
            <a:ext cx="976632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两张一对多表相乘，中间结果爆炸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14490" y="4164330"/>
            <a:ext cx="537751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 2 张以上一对多表指标时必须先预聚合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28700" y="4583430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教训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25671" y="4583430"/>
            <a:ext cx="976632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多表一次查完看着简洁，实际超时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14490" y="4583430"/>
            <a:ext cx="537751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 JOIN 一张业务表时可以直接聚合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901" name="Header Band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" name="Header Rule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02920" y="109728"/>
            <a:ext cx="100584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案例七 · 字典切换：一列里混着两套编码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28700" y="2044065"/>
            <a:ext cx="111633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status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838148" y="2044065"/>
            <a:ext cx="935385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名称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30112" y="2044065"/>
            <a:ext cx="356188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数据量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4400" y="2333625"/>
            <a:ext cx="1036320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7527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1718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5909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0100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4291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8700" y="24784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 / 1 /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8148" y="2478405"/>
            <a:ext cx="935385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待开始·进行中·待完善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30112" y="2478405"/>
            <a:ext cx="356188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新字典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28700" y="28975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38148" y="2897505"/>
            <a:ext cx="935385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已结束（旧称已上线）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30112" y="2897505"/>
            <a:ext cx="356188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新字典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8700" y="33166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38148" y="3316605"/>
            <a:ext cx="935385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已取消（历史码）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30112" y="3316605"/>
            <a:ext cx="356188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 4,560 行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8700" y="37357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99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38148" y="3735705"/>
            <a:ext cx="935385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关闭（历史码）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30112" y="3735705"/>
            <a:ext cx="356188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 6,925 行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28700" y="41548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5/6/9/97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838148" y="4154805"/>
            <a:ext cx="935385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待解决·待验证·待确认·待提交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30112" y="4154805"/>
            <a:ext cx="356188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合计约 190 行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" y="4672013"/>
            <a:ext cx="10363200" cy="628650"/>
          </a:xfrm>
          <a:prstGeom prst="roundRect">
            <a:avLst>
              <a:gd name="adj" fmla="val 3030"/>
            </a:avLst>
          </a:prstGeom>
          <a:solidFill>
            <a:srgbClr val="E3EAF2"/>
          </a:solidFill>
          <a:ln/>
        </p:spPr>
      </p:sp>
      <p:sp>
        <p:nvSpPr>
          <p:cNvPr id="29" name="Shape 27"/>
          <p:cNvSpPr/>
          <p:nvPr/>
        </p:nvSpPr>
        <p:spPr>
          <a:xfrm>
            <a:off x="1122205" y="4898110"/>
            <a:ext cx="174764" cy="157285"/>
          </a:xfrm>
          <a:custGeom>
            <a:avLst/>
            <a:gdLst/>
            <a:ahLst/>
            <a:cxnLst/>
            <a:rect l="l" t="t" r="r" b="b"/>
            <a:pathLst>
              <a:path w="174764" h="157285">
                <a:moveTo>
                  <a:pt x="172425" y="131090"/>
                </a:moveTo>
                <a:lnTo>
                  <a:pt x="102575" y="8853"/>
                </a:lnTo>
                <a:arcTo hR="17463" wR="17463" stAng="19827518" swAng="-7255037"/>
                <a:lnTo>
                  <a:pt x="2340" y="131090"/>
                </a:lnTo>
                <a:arcTo hR="17463" wR="17463" stAng="12600161" swAng="-7231094"/>
                <a:lnTo>
                  <a:pt x="157320" y="157284"/>
                </a:lnTo>
                <a:arcTo hR="17463" wR="17463" stAng="5396476" swAng="-7196478"/>
              </a:path>
            </a:pathLst>
          </a:custGeom>
          <a:noFill/>
          <a:ln w="17463">
            <a:solidFill>
              <a:srgbClr val="C55A1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09675" y="4950619"/>
            <a:ext cx="6548" cy="34925"/>
          </a:xfrm>
          <a:custGeom>
            <a:avLst/>
            <a:gdLst/>
            <a:ahLst/>
            <a:cxnLst/>
            <a:rect l="l" t="t" r="r" b="b"/>
            <a:pathLst>
              <a:path w="6548" h="34925">
                <a:moveTo>
                  <a:pt x="0" y="0"/>
                </a:moveTo>
                <a:lnTo>
                  <a:pt x="0" y="34925"/>
                </a:lnTo>
              </a:path>
            </a:pathLst>
          </a:custGeom>
          <a:noFill/>
          <a:ln w="17463">
            <a:solidFill>
              <a:srgbClr val="C55A1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09675" y="5020469"/>
            <a:ext cx="6548" cy="6548"/>
          </a:xfrm>
          <a:custGeom>
            <a:avLst/>
            <a:gdLst/>
            <a:ahLst/>
            <a:cxnLst/>
            <a:rect l="l" t="t" r="r" b="b"/>
            <a:pathLst>
              <a:path w="6548" h="6548">
                <a:moveTo>
                  <a:pt x="0" y="0"/>
                </a:moveTo>
                <a:lnTo>
                  <a:pt x="87" y="0"/>
                </a:lnTo>
              </a:path>
            </a:pathLst>
          </a:custGeom>
          <a:noFill/>
          <a:ln w="17463">
            <a:solidFill>
              <a:srgbClr val="C55A1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47800" y="4870133"/>
            <a:ext cx="10744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按新字典解读历史码，结论会相反 —— 例如把“已取消”当成“待开始”。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14400" y="6021705"/>
            <a:ext cx="11277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统一口径：status </a:t>
            </a:r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&lt;</a:t>
            </a:r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&gt;</a:t>
            </a:r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2 视为未结束，并排除 4 / 99 等历史码。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901" name="Header Band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" name="Header Rule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02920" y="109728"/>
            <a:ext cx="100584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性能红线与提交前自查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019825" y="2044065"/>
            <a:ext cx="1017217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性能红线（违反会超时）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136957" y="2044065"/>
            <a:ext cx="6055043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提交前自查（逐项打勾）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14400" y="2333625"/>
            <a:ext cx="1036320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7527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1718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5909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40100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429125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8700" y="24784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预聚合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19825" y="2478405"/>
            <a:ext cx="1017217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张以上一对多表取指标必须先预聚合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36957" y="2478405"/>
            <a:ext cx="605504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PYTHONUTF8 = 1 已设；validate 无 error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28700" y="28975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收窄范围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19825" y="2897505"/>
            <a:ext cx="1017217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大表聚合必须加时间或项目过滤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36957" y="2897505"/>
            <a:ext cx="605504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build 成功；cube list 能看到新立方体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8700" y="33166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19825" y="3316605"/>
            <a:ext cx="1017217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时间列不套函数；禁止 SELECT *；加 LIMIT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36957" y="3316605"/>
            <a:ext cx="605504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sql-only 的 SQL 粒度、过滤、区间符合预期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8700" y="37357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迭代燃尽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19825" y="3735705"/>
            <a:ext cx="1017217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 is_final_snapshot 标记，别用子查询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36957" y="3735705"/>
            <a:ext cx="605504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真跑并与业务对数（数字带日期）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28700" y="41548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命名与口径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019825" y="4154805"/>
            <a:ext cx="1017217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视图列与指标名不得重名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36957" y="4154805"/>
            <a:ext cx="605504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每个指标维度都有 description；口径已同步五处知识文件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901" name="Header Band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" name="Header Rule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02920" y="109728"/>
            <a:ext cx="100584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报错速查：截图保存，遇到先查这里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28700" y="1997964"/>
            <a:ext cx="111633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现象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58850" y="1997964"/>
            <a:ext cx="57331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修法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14400" y="2287524"/>
            <a:ext cx="1036320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706624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125724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544824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963924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383024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802124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5221224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5640324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8700" y="2432304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gbk codec 报错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58850" y="2432304"/>
            <a:ext cx="57331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 PYTHONUTF8 = 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28700" y="2851404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duplicate / missing name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58850" y="2851404"/>
            <a:ext cx="57331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视图名要全局唯一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8700" y="3270504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missing statement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58850" y="3270504"/>
            <a:ext cx="57331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sql.yml 里补 SQL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8700" y="3689604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base_object 未定义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58850" y="3689604"/>
            <a:ext cx="57331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改完要重新 build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8700" y="4108704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hierarchies 报错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58850" y="4108704"/>
            <a:ext cx="57331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先声明维度再引用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28700" y="4527804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Invalid function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58850" y="4527804"/>
            <a:ext cx="57331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换引擎支持的函数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28700" y="4946904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Column must be in GROUP BY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58850" y="4946904"/>
            <a:ext cx="57331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MAX() 包裹 + 主键分组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28700" y="5366004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Unknown filter dimension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58850" y="5366004"/>
            <a:ext cx="57331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只能过滤维度，不能过滤指标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60579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完整报错原文与修法见《wrenai 语义库编写使用手册》第五部分 5.7 —— 建议打印成 A4 贴在工位。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901" name="Header Band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" name="Header Rule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02920" y="109728"/>
            <a:ext cx="100584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上机：四个递进任务与交付标准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6250"/>
            </a:avLst>
          </a:prstGeom>
          <a:solidFill>
            <a:srgbClr val="BDD7EE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992505"/>
            <a:ext cx="24384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71550" y="3390900"/>
            <a:ext cx="914400" cy="914400"/>
          </a:xfrm>
          <a:prstGeom prst="ellipse">
            <a:avLst/>
          </a:prstGeom>
          <a:solidFill>
            <a:srgbClr val="BDD7EE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3716426"/>
            <a:ext cx="2857500" cy="351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304" b="1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2304" dirty="0"/>
          </a:p>
        </p:txBody>
      </p:sp>
      <p:sp>
        <p:nvSpPr>
          <p:cNvPr id="8" name="Shape 6"/>
          <p:cNvSpPr/>
          <p:nvPr/>
        </p:nvSpPr>
        <p:spPr>
          <a:xfrm>
            <a:off x="2114550" y="1971675"/>
            <a:ext cx="9105900" cy="838200"/>
          </a:xfrm>
          <a:prstGeom prst="roundRect">
            <a:avLst>
              <a:gd name="adj" fmla="val 2273"/>
            </a:avLst>
          </a:prstGeom>
          <a:solidFill>
            <a:srgbClr val="EAF2FA"/>
          </a:solidFill>
          <a:ln w="9525">
            <a:solidFill>
              <a:srgbClr val="D6E4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98370" y="2055495"/>
            <a:ext cx="670560" cy="67056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2296478"/>
            <a:ext cx="50673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002280" y="2143125"/>
            <a:ext cx="9189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环境自检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02280" y="2446020"/>
            <a:ext cx="91897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 PYTHONUTF8、绑 profile，跑通 validate / build / cube list。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0" y="2322195"/>
            <a:ext cx="11087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三条命令输出截图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14550" y="2943225"/>
            <a:ext cx="9105900" cy="838200"/>
          </a:xfrm>
          <a:prstGeom prst="roundRect">
            <a:avLst>
              <a:gd name="adj" fmla="val 2273"/>
            </a:avLst>
          </a:prstGeom>
          <a:solidFill>
            <a:srgbClr val="EAF2FA"/>
          </a:solidFill>
          <a:ln w="9525">
            <a:solidFill>
              <a:srgbClr val="D6E4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98370" y="3027045"/>
            <a:ext cx="670560" cy="67056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3268028"/>
            <a:ext cx="50673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3002280" y="3114675"/>
            <a:ext cx="9189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只读验证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002280" y="3417570"/>
            <a:ext cx="91897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 --sql-only 看立方体 SQL，用 dry-plan 看展开后的物理 SQL。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0" y="3293745"/>
            <a:ext cx="11087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物理 SQL 展开结果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114550" y="3914775"/>
            <a:ext cx="9105900" cy="838200"/>
          </a:xfrm>
          <a:prstGeom prst="roundRect">
            <a:avLst>
              <a:gd name="adj" fmla="val 2273"/>
            </a:avLst>
          </a:prstGeom>
          <a:solidFill>
            <a:srgbClr val="EAF2FA"/>
          </a:solidFill>
          <a:ln w="9525">
            <a:solidFill>
              <a:srgbClr val="D6E4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8370" y="3998595"/>
            <a:ext cx="670560" cy="67056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2" name="Text 20"/>
          <p:cNvSpPr/>
          <p:nvPr/>
        </p:nvSpPr>
        <p:spPr>
          <a:xfrm>
            <a:off x="0" y="4239578"/>
            <a:ext cx="50673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3002280" y="4086225"/>
            <a:ext cx="9189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新增视图与立方体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002280" y="4389120"/>
            <a:ext cx="91897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 views/v_staff 与 cubes/staff_overview，再与业务对数。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0" y="4265295"/>
            <a:ext cx="11087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YAML + JSON 结果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114550" y="4886325"/>
            <a:ext cx="9105900" cy="838200"/>
          </a:xfrm>
          <a:prstGeom prst="roundRect">
            <a:avLst>
              <a:gd name="adj" fmla="val 2273"/>
            </a:avLst>
          </a:prstGeom>
          <a:solidFill>
            <a:srgbClr val="EAF2FA"/>
          </a:solidFill>
          <a:ln w="9525">
            <a:solidFill>
              <a:srgbClr val="D6E4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98370" y="4970145"/>
            <a:ext cx="670560" cy="67056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8" name="Text 26"/>
          <p:cNvSpPr/>
          <p:nvPr/>
        </p:nvSpPr>
        <p:spPr>
          <a:xfrm>
            <a:off x="0" y="5211128"/>
            <a:ext cx="50673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3002280" y="5057775"/>
            <a:ext cx="9189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变更排演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002280" y="5360670"/>
            <a:ext cx="91897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模拟一次口径变更，按同步清单逐项更新并回归。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0" y="5236845"/>
            <a:ext cx="11087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变更清单 + 回归对照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4400" y="6021705"/>
            <a:ext cx="11277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验收标准：能独立完成任务三与任务四，即达到日常维护语义库的要求。练习用只读账号，不影响生产。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901" name="Header Band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" name="Header Rule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02920" y="109728"/>
            <a:ext cx="100584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F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2026920"/>
            <a:ext cx="112776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脚手架先行：先跑通最小链路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14400" y="2750820"/>
            <a:ext cx="112776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实测驱动：口径先在库里验证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112776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互相印证：视图与文档必须一致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03632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1980-01-01T00:00:00Z</dcterms:created>
  <dcterms:modified xsi:type="dcterms:W3CDTF">1980-01-01T00:00:00Z</dcterms:modified>
</cp:coreProperties>
</file>